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3a3e6a3c2841a2" /><Relationship Type="http://schemas.openxmlformats.org/officeDocument/2006/relationships/extended-properties" Target="/docProps/app.xml" Id="R97aa336941ae4d9b" /><Relationship Type="http://schemas.openxmlformats.org/officeDocument/2006/relationships/officeDocument" Target="/ppt/presentation.xml" Id="R8dea23d1b84b4d1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7a919aab3aa4bf6"/>
  </p:sldMasterIdLst>
  <p:notesMasterIdLst>
    <p:notesMasterId xmlns:r="http://schemas.openxmlformats.org/officeDocument/2006/relationships" r:id="R3130a5b09f2a400d"/>
  </p:notesMasterIdLst>
  <p:sldIdLst>
    <p:sldId xmlns:r="http://schemas.openxmlformats.org/officeDocument/2006/relationships" id="256" r:id="R876f411df1164e34"/>
    <p:sldId xmlns:r="http://schemas.openxmlformats.org/officeDocument/2006/relationships" id="257" r:id="R846804edcfe2483e"/>
    <p:sldId xmlns:r="http://schemas.openxmlformats.org/officeDocument/2006/relationships" id="258" r:id="Rb7242e0761a3431d"/>
    <p:sldId xmlns:r="http://schemas.openxmlformats.org/officeDocument/2006/relationships" id="259" r:id="R53dec05749f14135"/>
    <p:sldId xmlns:r="http://schemas.openxmlformats.org/officeDocument/2006/relationships" id="260" r:id="R371a7c8518304365"/>
    <p:sldId xmlns:r="http://schemas.openxmlformats.org/officeDocument/2006/relationships" id="261" r:id="Rdf6a26791c284a7f"/>
    <p:sldId xmlns:r="http://schemas.openxmlformats.org/officeDocument/2006/relationships" id="262" r:id="R96aab3fd4bb444d6"/>
    <p:sldId xmlns:r="http://schemas.openxmlformats.org/officeDocument/2006/relationships" id="263" r:id="R232006e9d900405b"/>
    <p:sldId xmlns:r="http://schemas.openxmlformats.org/officeDocument/2006/relationships" id="264" r:id="Rfa3bd5d1ae4b46e4"/>
  </p:sldIdLst>
  <p:sldSz cx="18288000" cy="10287000"/>
  <p:notesSz cx="6858000" cy="9144000"/>
  <p:embeddedFontLst>
    <p:embeddedFont>
      <p:font typeface="Roboto Bold"/>
      <p:regular xmlns:r="http://schemas.openxmlformats.org/officeDocument/2006/relationships" r:id="R2afdfa2d7de74449"/>
    </p:embeddedFont>
    <p:embeddedFont>
      <p:font typeface="Roboto"/>
      <p:regular xmlns:r="http://schemas.openxmlformats.org/officeDocument/2006/relationships" r:id="R6982c90be1c34e7e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bd886bda2d41e1" /><Relationship Type="http://schemas.openxmlformats.org/officeDocument/2006/relationships/slideMaster" Target="/ppt/slideMasters/slideMaster1.xml" Id="R97a919aab3aa4bf6" /><Relationship Type="http://schemas.openxmlformats.org/officeDocument/2006/relationships/notesMaster" Target="/ppt/notesMasters/notesMaster1.xml" Id="R3130a5b09f2a400d" /><Relationship Type="http://schemas.openxmlformats.org/officeDocument/2006/relationships/presProps" Target="/ppt/presProps.xml" Id="R1125eb8b1e6e4f4e" /><Relationship Type="http://schemas.openxmlformats.org/officeDocument/2006/relationships/viewProps" Target="/ppt/viewProps.xml" Id="Rbc8fd9e3461f4b67" /><Relationship Type="http://schemas.openxmlformats.org/officeDocument/2006/relationships/tableStyles" Target="/ppt/tableStyles.xml" Id="Ra33eef65ea404976" /><Relationship Type="http://schemas.openxmlformats.org/officeDocument/2006/relationships/font" Target="/ppt/fonts/font.dat" Id="R2afdfa2d7de74449" /><Relationship Type="http://schemas.openxmlformats.org/officeDocument/2006/relationships/font" Target="/ppt/fonts/font2.dat" Id="R6982c90be1c34e7e" /><Relationship Type="http://schemas.openxmlformats.org/officeDocument/2006/relationships/slide" Target="/ppt/slides/slide1.xml" Id="R876f411df1164e34" /><Relationship Type="http://schemas.openxmlformats.org/officeDocument/2006/relationships/slide" Target="/ppt/slides/slide2.xml" Id="R846804edcfe2483e" /><Relationship Type="http://schemas.openxmlformats.org/officeDocument/2006/relationships/slide" Target="/ppt/slides/slide3.xml" Id="Rb7242e0761a3431d" /><Relationship Type="http://schemas.openxmlformats.org/officeDocument/2006/relationships/slide" Target="/ppt/slides/slide4.xml" Id="R53dec05749f14135" /><Relationship Type="http://schemas.openxmlformats.org/officeDocument/2006/relationships/slide" Target="/ppt/slides/slide5.xml" Id="R371a7c8518304365" /><Relationship Type="http://schemas.openxmlformats.org/officeDocument/2006/relationships/slide" Target="/ppt/slides/slide6.xml" Id="Rdf6a26791c284a7f" /><Relationship Type="http://schemas.openxmlformats.org/officeDocument/2006/relationships/slide" Target="/ppt/slides/slide7.xml" Id="R96aab3fd4bb444d6" /><Relationship Type="http://schemas.openxmlformats.org/officeDocument/2006/relationships/slide" Target="/ppt/slides/slide8.xml" Id="R232006e9d900405b" /><Relationship Type="http://schemas.openxmlformats.org/officeDocument/2006/relationships/slide" Target="/ppt/slides/slide9.xml" Id="Rfa3bd5d1ae4b46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452f9217dc43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40d25ec4764cba" /><Relationship Type="http://schemas.openxmlformats.org/officeDocument/2006/relationships/notesMaster" Target="/ppt/notesMasters/notesMaster1.xml" Id="R054f791426ae47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6d0cc97ad54c8a" /><Relationship Type="http://schemas.openxmlformats.org/officeDocument/2006/relationships/notesMaster" Target="/ppt/notesMasters/notesMaster1.xml" Id="R1b99bd8143734d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df8e6c07b24602" /><Relationship Type="http://schemas.openxmlformats.org/officeDocument/2006/relationships/notesMaster" Target="/ppt/notesMasters/notesMaster1.xml" Id="R925cf6f4345a41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bb38d9d25e44af" /><Relationship Type="http://schemas.openxmlformats.org/officeDocument/2006/relationships/notesMaster" Target="/ppt/notesMasters/notesMaster1.xml" Id="Rb88b0a548ce243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7f83212d084505" /><Relationship Type="http://schemas.openxmlformats.org/officeDocument/2006/relationships/notesMaster" Target="/ppt/notesMasters/notesMaster1.xml" Id="R07dc869af4de4e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16dfd8d8dd4743" /><Relationship Type="http://schemas.openxmlformats.org/officeDocument/2006/relationships/notesMaster" Target="/ppt/notesMasters/notesMaster1.xml" Id="R4a5ef0cd29eb4e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a1cdc7a8c048a4" /><Relationship Type="http://schemas.openxmlformats.org/officeDocument/2006/relationships/notesMaster" Target="/ppt/notesMasters/notesMaster1.xml" Id="R53324bf92e944a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a3afa192cc4b9c" /><Relationship Type="http://schemas.openxmlformats.org/officeDocument/2006/relationships/notesMaster" Target="/ppt/notesMasters/notesMaster1.xml" Id="Reb03db00ddfe48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6ecd24f9384a0f" /><Relationship Type="http://schemas.openxmlformats.org/officeDocument/2006/relationships/notesMaster" Target="/ppt/notesMasters/notesMaster1.xml" Id="Rafbc036f4b7d41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893cc2606743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1606df7d5a4e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66e8f34ad94e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b236f0769d41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fe588c8a1946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62b91c9f5d4e5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5ced483e42410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b83e899e0a496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d566ce2938464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246ca093a402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877ee3c85145a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AB77EA-E82D-4CE3-8949-9ACE8324967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19AB860-F4B4-4A17-9BB6-F2F15A46A1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AEF59DF-31DC-4036-9D78-4F8FDC669C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59FC266-BAF1-4526-85D0-8E90C3CDF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7EE650-5EA6-4AD6-963F-E81A67D21E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313004-D12B-44F2-BE3E-FF676E616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4ABAD9A-7F4D-46B6-9FD9-B10C49781DF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F89CAC9-7B54-41D8-A704-9E474B306B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E8EF4F-E433-4F66-95C4-A15FA30EA6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9ECB0E-3DB6-4F72-AFEE-00BB3A46EB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6EE40F-A51D-4C08-AF99-8AB5638147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CA8298C-9329-4590-8BB0-E055998254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B28A6E-6B7F-4960-B3FD-1C2A841737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153CA92-67AC-44DA-B2F3-EC9B0E667C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5EFD61-DBC3-4509-B161-3DA69B4277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319C2B-3460-4BBE-95BC-E4E9998B65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5053BC6-EF14-40BD-9084-79B6A277B10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F3E00C0-7496-4BA8-B70B-62BE071A519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CA49592-B42F-466B-A574-EC772A3FCE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B525F94-A940-4B7F-B7D8-38FB95603C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0C05F4E-1FAD-4808-9912-C00B4631A7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F247C6-52B0-468E-921D-C6503436B0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21573EC-E3A4-483A-8330-AFC2B07C7A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F85D2C6-6B5A-4199-98E1-1856A0323B9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86C5FD7-7032-4C0E-A541-BDFDC38BD90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6C8B745-69D6-4E72-88DA-D51B7629D43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C22BB1B-67CF-490D-A723-06ABE2803A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18B2029-ADFE-4D88-8B43-6D5420FDA4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24F88BF-643F-4449-92F8-6D1911C120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CF60F75-23A1-4481-AE30-1158F97A1F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73DFAB1-9DE7-4208-8AEF-E344CF2306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63BE52-5119-4F9A-879A-4A4CF6CBDA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B33AF4B-0629-4A28-94C5-7A087C150D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75798BB-5247-468D-963F-0D4490DAD3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2E17187-6E0E-40D7-92F6-C2BA6A2D51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7AE95E7-2217-4CD9-BD71-2153BC1EB3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68D75D-8C5D-4E23-9444-055A8543D0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57A9871-4783-4CDF-8792-A4106C9FA9A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50FCF3E-F798-4C02-8D33-422FDC8CDA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F38237F-3011-4C6C-B92E-C53993453B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5247D01-4B06-4D08-AE60-F86198D232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6567651-0588-4439-8189-D56243816C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6030DD-F11C-4D2F-B8DF-BFC661FD52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4ACF325-A1F0-4041-8532-9BC45E07D6D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A256ECE-253F-4EC5-816B-1CEA284B8B0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B73D377-BC52-4F15-A4EA-F8F712D4B3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3FAC828-447B-475A-AC3B-D1BF2EC136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D55CB81-3A90-48EF-9820-C92F2B4E03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18A411-758F-4012-929C-EA038340C4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4845F95-ACDA-456A-B253-5B574FD56E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823DAD6-02C7-4411-BB39-13118805CE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352BD24-9B0A-4D63-A33D-498528A5FB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A2203E-12E5-4701-AAB8-C336DFDBEB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ABCEB80-3812-4012-ACD7-51D7F6D588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E86DA38-F427-460A-820B-8DD254CF15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3149A7-B2B5-4F98-902E-58B48B0E34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9A845E8-F799-4C04-804C-59EC4281A1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740073-C1BA-411C-9606-C422D1C667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1752946111400d" /><Relationship Type="http://schemas.openxmlformats.org/officeDocument/2006/relationships/slideLayout" Target="/ppt/slideLayouts/slideLayout1.xml" Id="R35c0dbdd8525420c" /><Relationship Type="http://schemas.openxmlformats.org/officeDocument/2006/relationships/slideLayout" Target="/ppt/slideLayouts/slideLayout2.xml" Id="Rb52e96d72e024a5c" /><Relationship Type="http://schemas.openxmlformats.org/officeDocument/2006/relationships/slideLayout" Target="/ppt/slideLayouts/slideLayout3.xml" Id="R412e4d3651964100" /><Relationship Type="http://schemas.openxmlformats.org/officeDocument/2006/relationships/slideLayout" Target="/ppt/slideLayouts/slideLayout4.xml" Id="R323cd071695e4663" /><Relationship Type="http://schemas.openxmlformats.org/officeDocument/2006/relationships/slideLayout" Target="/ppt/slideLayouts/slideLayout5.xml" Id="R58e3ab0b88d649d1" /><Relationship Type="http://schemas.openxmlformats.org/officeDocument/2006/relationships/slideLayout" Target="/ppt/slideLayouts/slideLayout6.xml" Id="R275fd3e5541f4254" /><Relationship Type="http://schemas.openxmlformats.org/officeDocument/2006/relationships/slideLayout" Target="/ppt/slideLayouts/slideLayout7.xml" Id="R6436d708480242b3" /><Relationship Type="http://schemas.openxmlformats.org/officeDocument/2006/relationships/slideLayout" Target="/ppt/slideLayouts/slideLayout8.xml" Id="Reaa39e11d446463d" /><Relationship Type="http://schemas.openxmlformats.org/officeDocument/2006/relationships/slideLayout" Target="/ppt/slideLayouts/slideLayout9.xml" Id="Rd6b0dd2c3ecd46c4" /><Relationship Type="http://schemas.openxmlformats.org/officeDocument/2006/relationships/slideLayout" Target="/ppt/slideLayouts/slideLayout10.xml" Id="R5d8c58d005cf4de6" /><Relationship Type="http://schemas.openxmlformats.org/officeDocument/2006/relationships/slideLayout" Target="/ppt/slideLayouts/slideLayout11.xml" Id="Re543f4afe3664b3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B99FB28-86B1-4805-8048-62ED3C5864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45A14-4DCB-4E11-AE38-C0C55F7A28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387AE6-6148-4A73-9AA8-E7332C04F39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521E08A-B4D1-4470-9D2B-E2EA55045E0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6B2327-0BC6-49CC-BDE3-FD76B88ADA5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c0dbdd8525420c"/>
    <p:sldLayoutId xmlns:r="http://schemas.openxmlformats.org/officeDocument/2006/relationships" id="2147483650" r:id="Rb52e96d72e024a5c"/>
    <p:sldLayoutId xmlns:r="http://schemas.openxmlformats.org/officeDocument/2006/relationships" id="2147483651" r:id="R412e4d3651964100"/>
    <p:sldLayoutId xmlns:r="http://schemas.openxmlformats.org/officeDocument/2006/relationships" id="2147483652" r:id="R323cd071695e4663"/>
    <p:sldLayoutId xmlns:r="http://schemas.openxmlformats.org/officeDocument/2006/relationships" id="2147483653" r:id="R58e3ab0b88d649d1"/>
    <p:sldLayoutId xmlns:r="http://schemas.openxmlformats.org/officeDocument/2006/relationships" id="2147483654" r:id="R275fd3e5541f4254"/>
    <p:sldLayoutId xmlns:r="http://schemas.openxmlformats.org/officeDocument/2006/relationships" id="2147483655" r:id="R6436d708480242b3"/>
    <p:sldLayoutId xmlns:r="http://schemas.openxmlformats.org/officeDocument/2006/relationships" id="2147483656" r:id="Reaa39e11d446463d"/>
    <p:sldLayoutId xmlns:r="http://schemas.openxmlformats.org/officeDocument/2006/relationships" id="2147483657" r:id="Rd6b0dd2c3ecd46c4"/>
    <p:sldLayoutId xmlns:r="http://schemas.openxmlformats.org/officeDocument/2006/relationships" id="2147483658" r:id="R5d8c58d005cf4de6"/>
    <p:sldLayoutId xmlns:r="http://schemas.openxmlformats.org/officeDocument/2006/relationships" id="2147483659" r:id="Re543f4afe3664b37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3906be214044cb" /><Relationship Type="http://schemas.openxmlformats.org/officeDocument/2006/relationships/image" Target="/ppt/media/image.png" Id="Rc3f721b50a014999" /><Relationship Type="http://schemas.openxmlformats.org/officeDocument/2006/relationships/image" Target="/ppt/media/image2.png" Id="R24768a5d34f44654" /><Relationship Type="http://schemas.openxmlformats.org/officeDocument/2006/relationships/image" Target="/ppt/media/image3.png" Id="Rda7c59cb13674b61" /><Relationship Type="http://schemas.openxmlformats.org/officeDocument/2006/relationships/image" Target="/ppt/media/image4.png" Id="Rbc52679272ac408d" /><Relationship Type="http://schemas.openxmlformats.org/officeDocument/2006/relationships/image" Target="/ppt/media/image5.png" Id="R8718d22348a447cd" /><Relationship Type="http://schemas.openxmlformats.org/officeDocument/2006/relationships/image" Target="/ppt/media/image6.png" Id="Rb17053ed49584fac" /><Relationship Type="http://schemas.openxmlformats.org/officeDocument/2006/relationships/image" Target="/ppt/media/image7.png" Id="R7e9d81fd566b4514" /><Relationship Type="http://schemas.openxmlformats.org/officeDocument/2006/relationships/image" Target="/ppt/media/image8.png" Id="R92dae8bd04cc4453" /><Relationship Type="http://schemas.openxmlformats.org/officeDocument/2006/relationships/image" Target="/ppt/media/image9.png" Id="R05c020db55084908" /><Relationship Type="http://schemas.openxmlformats.org/officeDocument/2006/relationships/image" Target="/ppt/media/image10.png" Id="R9ef8917d2bfb4e67" /><Relationship Type="http://schemas.openxmlformats.org/officeDocument/2006/relationships/image" Target="/ppt/media/image11.png" Id="R6fafd9a96a7e4f76" /><Relationship Type="http://schemas.openxmlformats.org/officeDocument/2006/relationships/notesSlide" Target="/ppt/notesSlides/notesSlide1.xml" Id="Raff3a7cad0a944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e4b3ec4e8b4c7a" /><Relationship Type="http://schemas.openxmlformats.org/officeDocument/2006/relationships/image" Target="/ppt/media/image12.png" Id="R24b9fe57959e4dbe" /><Relationship Type="http://schemas.openxmlformats.org/officeDocument/2006/relationships/image" Target="/ppt/media/image13.png" Id="R8e3041a622a74ea8" /><Relationship Type="http://schemas.openxmlformats.org/officeDocument/2006/relationships/image" Target="/ppt/media/image14.png" Id="Rf543a5e4b366474a" /><Relationship Type="http://schemas.openxmlformats.org/officeDocument/2006/relationships/image" Target="/ppt/media/image15.png" Id="Rd8df282d9fd7424e" /><Relationship Type="http://schemas.openxmlformats.org/officeDocument/2006/relationships/image" Target="/ppt/media/image16.png" Id="R7b7634d7330b4b72" /><Relationship Type="http://schemas.openxmlformats.org/officeDocument/2006/relationships/image" Target="/ppt/media/image17.png" Id="R4ee91084dd134d51" /><Relationship Type="http://schemas.openxmlformats.org/officeDocument/2006/relationships/image" Target="/ppt/media/image18.png" Id="Re98bf666773f4f4d" /><Relationship Type="http://schemas.openxmlformats.org/officeDocument/2006/relationships/image" Target="/ppt/media/image19.png" Id="R56265360a54b40de" /><Relationship Type="http://schemas.openxmlformats.org/officeDocument/2006/relationships/image" Target="/ppt/media/image20.png" Id="R8ffdea1e4b4f4335" /><Relationship Type="http://schemas.openxmlformats.org/officeDocument/2006/relationships/image" Target="/ppt/media/image21.png" Id="Re33a0d495a364783" /><Relationship Type="http://schemas.openxmlformats.org/officeDocument/2006/relationships/image" Target="/ppt/media/image22.png" Id="R6043cc162bc6431f" /><Relationship Type="http://schemas.openxmlformats.org/officeDocument/2006/relationships/image" Target="/ppt/media/image23.png" Id="R66754cd509c44e6a" /><Relationship Type="http://schemas.openxmlformats.org/officeDocument/2006/relationships/image" Target="/ppt/media/image24.png" Id="R4f66a346663f4c7d" /><Relationship Type="http://schemas.openxmlformats.org/officeDocument/2006/relationships/image" Target="/ppt/media/image25.png" Id="R6796389362104128" /><Relationship Type="http://schemas.openxmlformats.org/officeDocument/2006/relationships/image" Target="/ppt/media/image26.png" Id="R46daf5f2a185472d" /><Relationship Type="http://schemas.openxmlformats.org/officeDocument/2006/relationships/image" Target="/ppt/media/image27.png" Id="R0b6ad7c6f1ca4d51" /><Relationship Type="http://schemas.openxmlformats.org/officeDocument/2006/relationships/image" Target="/ppt/media/image28.png" Id="R840fe4835762497f" /><Relationship Type="http://schemas.openxmlformats.org/officeDocument/2006/relationships/image" Target="/ppt/media/image29.png" Id="Rd75384d2b3304177" /><Relationship Type="http://schemas.openxmlformats.org/officeDocument/2006/relationships/image" Target="/ppt/media/image30.png" Id="R404956d431a444ea" /><Relationship Type="http://schemas.openxmlformats.org/officeDocument/2006/relationships/image" Target="/ppt/media/image31.png" Id="R31f53ebe13a74943" /><Relationship Type="http://schemas.openxmlformats.org/officeDocument/2006/relationships/notesSlide" Target="/ppt/notesSlides/notesSlide2.xml" Id="Rff9122ff713447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0dff5b5c1754b17" /><Relationship Type="http://schemas.openxmlformats.org/officeDocument/2006/relationships/image" Target="/ppt/media/image32.png" Id="R80a57f4ac8cb48a1" /><Relationship Type="http://schemas.openxmlformats.org/officeDocument/2006/relationships/image" Target="/ppt/media/image33.png" Id="Rec9f6c376cdf411d" /><Relationship Type="http://schemas.openxmlformats.org/officeDocument/2006/relationships/image" Target="/ppt/media/image34.png" Id="R265f83cfed934db9" /><Relationship Type="http://schemas.openxmlformats.org/officeDocument/2006/relationships/image" Target="/ppt/media/image35.png" Id="Rcb48b4a109df4503" /><Relationship Type="http://schemas.openxmlformats.org/officeDocument/2006/relationships/image" Target="/ppt/media/image36.png" Id="Ra5690d2714ce44d0" /><Relationship Type="http://schemas.openxmlformats.org/officeDocument/2006/relationships/image" Target="/ppt/media/image37.png" Id="R33dce6a037ca41da" /><Relationship Type="http://schemas.openxmlformats.org/officeDocument/2006/relationships/image" Target="/ppt/media/image38.png" Id="R049c8978dea64225" /><Relationship Type="http://schemas.openxmlformats.org/officeDocument/2006/relationships/image" Target="/ppt/media/image39.png" Id="Rfbd5435dd61344a6" /><Relationship Type="http://schemas.openxmlformats.org/officeDocument/2006/relationships/image" Target="/ppt/media/image40.png" Id="R36302e2bf4b14692" /><Relationship Type="http://schemas.openxmlformats.org/officeDocument/2006/relationships/image" Target="/ppt/media/image41.png" Id="Rb5681615d7fa47c1" /><Relationship Type="http://schemas.openxmlformats.org/officeDocument/2006/relationships/image" Target="/ppt/media/image42.png" Id="R3407ed2c485a4215" /><Relationship Type="http://schemas.openxmlformats.org/officeDocument/2006/relationships/image" Target="/ppt/media/image43.png" Id="Rb074443cbefd4f0f" /><Relationship Type="http://schemas.openxmlformats.org/officeDocument/2006/relationships/image" Target="/ppt/media/image44.png" Id="Reef74a6118f646ea" /><Relationship Type="http://schemas.openxmlformats.org/officeDocument/2006/relationships/image" Target="/ppt/media/image45.png" Id="R66831432afc24589" /><Relationship Type="http://schemas.openxmlformats.org/officeDocument/2006/relationships/image" Target="/ppt/media/image46.png" Id="Rebf0439e54b44460" /><Relationship Type="http://schemas.openxmlformats.org/officeDocument/2006/relationships/image" Target="/ppt/media/image47.png" Id="R6feb001033d84c10" /><Relationship Type="http://schemas.openxmlformats.org/officeDocument/2006/relationships/image" Target="/ppt/media/image48.png" Id="Rb5bc4d2d4b7a487d" /><Relationship Type="http://schemas.openxmlformats.org/officeDocument/2006/relationships/image" Target="/ppt/media/image49.png" Id="R7f98500222d849e5" /><Relationship Type="http://schemas.openxmlformats.org/officeDocument/2006/relationships/image" Target="/ppt/media/image50.png" Id="R6326d6e11128431d" /><Relationship Type="http://schemas.openxmlformats.org/officeDocument/2006/relationships/image" Target="/ppt/media/image51.png" Id="R74556b55933c460d" /><Relationship Type="http://schemas.openxmlformats.org/officeDocument/2006/relationships/image" Target="/ppt/media/image52.png" Id="R9ceb4d8b26ae47ec" /><Relationship Type="http://schemas.openxmlformats.org/officeDocument/2006/relationships/image" Target="/ppt/media/image53.png" Id="Rbcb0ef55101a4e7b" /><Relationship Type="http://schemas.openxmlformats.org/officeDocument/2006/relationships/image" Target="/ppt/media/image54.png" Id="R1386c735cd5f446e" /><Relationship Type="http://schemas.openxmlformats.org/officeDocument/2006/relationships/image" Target="/ppt/media/image55.png" Id="Rca4d094f391d45a1" /><Relationship Type="http://schemas.openxmlformats.org/officeDocument/2006/relationships/image" Target="/ppt/media/image56.png" Id="Rc4fbab8fc57d4fa2" /><Relationship Type="http://schemas.openxmlformats.org/officeDocument/2006/relationships/image" Target="/ppt/media/image57.png" Id="R9596e98e08d04ed4" /><Relationship Type="http://schemas.openxmlformats.org/officeDocument/2006/relationships/image" Target="/ppt/media/image58.png" Id="Rbc04c2bc90d244ba" /><Relationship Type="http://schemas.openxmlformats.org/officeDocument/2006/relationships/image" Target="/ppt/media/image59.png" Id="Rb56b2757310e4e99" /><Relationship Type="http://schemas.openxmlformats.org/officeDocument/2006/relationships/image" Target="/ppt/media/image60.png" Id="R87208c3aaa514da9" /><Relationship Type="http://schemas.openxmlformats.org/officeDocument/2006/relationships/image" Target="/ppt/media/image61.png" Id="R58f8fe3f159c4e5c" /><Relationship Type="http://schemas.openxmlformats.org/officeDocument/2006/relationships/image" Target="/ppt/media/image62.png" Id="Re7e735fefe9d45c1" /><Relationship Type="http://schemas.openxmlformats.org/officeDocument/2006/relationships/image" Target="/ppt/media/image63.png" Id="R1546aef4e7bc4714" /><Relationship Type="http://schemas.openxmlformats.org/officeDocument/2006/relationships/notesSlide" Target="/ppt/notesSlides/notesSlide3.xml" Id="R576f2dcb032b4a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2df78bd73f433f" /><Relationship Type="http://schemas.openxmlformats.org/officeDocument/2006/relationships/notesSlide" Target="/ppt/notesSlides/notesSlide4.xml" Id="R24db5029aef243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2e33008bba46ab" /><Relationship Type="http://schemas.openxmlformats.org/officeDocument/2006/relationships/notesSlide" Target="/ppt/notesSlides/notesSlide5.xml" Id="R05e3af2ee95e48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fa89e0cafc44cd" /><Relationship Type="http://schemas.openxmlformats.org/officeDocument/2006/relationships/notesSlide" Target="/ppt/notesSlides/notesSlide6.xml" Id="R42f48b46f67c42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d5fe44c78e74a67" /><Relationship Type="http://schemas.openxmlformats.org/officeDocument/2006/relationships/notesSlide" Target="/ppt/notesSlides/notesSlide7.xml" Id="R0b66cdbba04c49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b84bff2a624a25" /><Relationship Type="http://schemas.openxmlformats.org/officeDocument/2006/relationships/image" Target="/ppt/media/image64.png" Id="R25266b2116f94f9f" /><Relationship Type="http://schemas.openxmlformats.org/officeDocument/2006/relationships/image" Target="/ppt/media/image65.png" Id="R57cf84a150e244d4" /><Relationship Type="http://schemas.openxmlformats.org/officeDocument/2006/relationships/hyperlink" Target="file:///C:/Users/KATEB/Documents/PaddelLab/deliverables/client1_organizer_proof.mp4" TargetMode="External" Id="Rbdc2a37e3496453d" /><Relationship Type="http://schemas.openxmlformats.org/officeDocument/2006/relationships/hyperlink" Target="file:///C:/Users/KATEB/Documents/PaddelLab/deliverables/client2_join_proof.mp4" TargetMode="External" Id="R90d67cf1c5fc4780" /><Relationship Type="http://schemas.openxmlformats.org/officeDocument/2006/relationships/notesSlide" Target="/ppt/notesSlides/notesSlide8.xml" Id="Re39d71ca62c549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31c7fe44504374" /><Relationship Type="http://schemas.openxmlformats.org/officeDocument/2006/relationships/image" Target="/ppt/media/image66.png" Id="R0440792fdc014177" /><Relationship Type="http://schemas.openxmlformats.org/officeDocument/2006/relationships/notesSlide" Target="/ppt/notesSlides/notesSlide9.xml" Id="R3c4a18c224a44aa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B102510-CD64-490B-B381-2DC59BAF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f721b50a014999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837127A-C03A-4C81-9BE1-D761C8A8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1924030"/>
            <a:ext cx="5009512" cy="6220301"/>
          </a:xfrm>
          <a:custGeom xmlns:a="http://schemas.openxmlformats.org/drawingml/2006/main">
            <a:rect l="l" t="t" r="r" b="b"/>
            <a:pathLst>
              <a:path w="5009512" h="6220301">
                <a:moveTo>
                  <a:pt x="0" y="0"/>
                </a:moveTo>
                <a:lnTo>
                  <a:pt x="5009512" y="0"/>
                </a:lnTo>
                <a:lnTo>
                  <a:pt x="5009512" y="6220300"/>
                </a:lnTo>
                <a:lnTo>
                  <a:pt x="0" y="62203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4768a5d34f44654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68042435-23FC-4131-86F4-4BA3661A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4708" y="5138034"/>
            <a:ext cx="1531292" cy="1727254"/>
          </a:xfrm>
          <a:custGeom xmlns:a="http://schemas.openxmlformats.org/drawingml/2006/main">
            <a:rect l="l" t="t" r="r" b="b"/>
            <a:pathLst>
              <a:path w="1531292" h="1727254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7c59cb13674b61"/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D216A71-2FE5-4F9A-A8C5-FDC54B64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888" y="752853"/>
            <a:ext cx="7147154" cy="12537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357"/>
              </a:lnSpc>
              <a:buNone/>
            </a:pPr>
            <a:r>
              <a:rPr sz="9357" b="1" spc="-374">
                <a:solidFill>
                  <a:srgbClr val="F8F8F8"/>
                </a:solidFill>
                <a:latin typeface="Roboto Bold"/>
                <a:ea typeface="Roboto Bold"/>
                <a:cs typeface="Roboto Bold"/>
              </a:rPr>
              <a:t>Padeli Hyeti –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3465ECF-0415-4969-9CE1-01DB5033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420" y="2063146"/>
            <a:ext cx="10293936" cy="12537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357"/>
              </a:lnSpc>
              <a:buNone/>
            </a:pPr>
            <a:r>
              <a:rPr sz="9357" b="1" spc="-3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Padel Player Finder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1163A5A5-4B92-42DA-8B72-BCB25926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553" y="3474894"/>
            <a:ext cx="6938491" cy="8937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05"/>
              </a:lnSpc>
              <a:buNone/>
            </a:pPr>
            <a:r>
              <a:rPr sz="2575" spc="-103">
                <a:solidFill>
                  <a:srgbClr val="B7D34B"/>
                </a:solidFill>
                <a:latin typeface="Roboto"/>
                <a:ea typeface="Roboto"/>
                <a:cs typeface="Roboto"/>
              </a:rPr>
              <a:t>A real HTTP client-server application for finding players and organizing Padel games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2C23BF07-1D69-4724-8CC9-49094D6B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231" y="5341897"/>
            <a:ext cx="3070683" cy="10647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76">
                <a:solidFill>
                  <a:srgbClr val="F8F8F8"/>
                </a:solidFill>
                <a:latin typeface="Roboto"/>
                <a:ea typeface="Roboto"/>
                <a:cs typeface="Roboto"/>
              </a:rPr>
              <a:t>Padel players need a simple way to find suitable players and join available games.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B319CA9-03A1-4A80-954D-F54DB1CC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2061" y="4945559"/>
            <a:ext cx="1712656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OUR SOLUTION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B85139C2-E0E0-4B5F-82AA-85F0B9A0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0696" y="5341896"/>
            <a:ext cx="3849157" cy="10647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76">
                <a:solidFill>
                  <a:srgbClr val="F8F8F8"/>
                </a:solidFill>
                <a:latin typeface="Roboto"/>
                <a:ea typeface="Roboto"/>
                <a:cs typeface="Roboto"/>
              </a:rPr>
              <a:t>Padeli Hyeti connects browser clients to a centralized Flask server and persistent SQLite database.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3ED008F6-74AF-461A-82C5-25EC8D3A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6854356"/>
            <a:ext cx="4364182" cy="1727254"/>
          </a:xfrm>
          <a:custGeom xmlns:a="http://schemas.openxmlformats.org/drawingml/2006/main">
            <a:rect l="l" t="t" r="r" b="b"/>
            <a:pathLst>
              <a:path w="4364182" h="1727254">
                <a:moveTo>
                  <a:pt x="0" y="0"/>
                </a:moveTo>
                <a:lnTo>
                  <a:pt x="4364182" y="0"/>
                </a:lnTo>
                <a:lnTo>
                  <a:pt x="436418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c52679272ac408d"/>
            <a:stretch>
              <a:fillRect l="0" t="0" r="0" b="0"/>
            </a:stretch>
          </a:blip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85A7BB45-CBB9-45BD-B538-937D225A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7062064"/>
            <a:ext cx="1104718" cy="1300906"/>
          </a:xfrm>
          <a:custGeom xmlns:a="http://schemas.openxmlformats.org/drawingml/2006/main">
            <a:rect l="l" t="t" r="r" b="b"/>
            <a:pathLst>
              <a:path w="1104718" h="1300906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718d22348a447cd"/>
            <a:stretch>
              <a:fillRect l="0" t="0" r="0" b="0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E5218515-9AB8-47F0-962F-6CB8E076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7768" y="7174563"/>
            <a:ext cx="1856773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TEAM MEMBERS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6ADBA5C4-5CD6-4A06-8E83-8FB907FF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6914" y="7581206"/>
            <a:ext cx="1942174" cy="1064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74">
                <a:solidFill>
                  <a:srgbClr val="F8F8F8"/>
                </a:solidFill>
                <a:latin typeface="Roboto"/>
                <a:ea typeface="Roboto"/>
                <a:cs typeface="Roboto"/>
              </a:rPr>
              <a:t>3-member university project team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DA65FEE8-2533-4C97-A2AC-9ECF85FD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9818" y="6854356"/>
            <a:ext cx="5457962" cy="1727254"/>
          </a:xfrm>
          <a:custGeom xmlns:a="http://schemas.openxmlformats.org/drawingml/2006/main">
            <a:rect l="l" t="t" r="r" b="b"/>
            <a:pathLst>
              <a:path w="5457962" h="1727254">
                <a:moveTo>
                  <a:pt x="0" y="0"/>
                </a:moveTo>
                <a:lnTo>
                  <a:pt x="5457962" y="0"/>
                </a:lnTo>
                <a:lnTo>
                  <a:pt x="545796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17053ed49584fac"/>
            <a:stretch>
              <a:fillRect l="0" t="0" r="0" b="0"/>
            </a:stretch>
          </a:blip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72501218-66DE-4FAA-B3E0-1013A725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7330" y="7062064"/>
            <a:ext cx="1104718" cy="1300906"/>
          </a:xfrm>
          <a:custGeom xmlns:a="http://schemas.openxmlformats.org/drawingml/2006/main">
            <a:rect l="l" t="t" r="r" b="b"/>
            <a:pathLst>
              <a:path w="1104718" h="1300906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e9d81fd566b4514"/>
            <a:stretch>
              <a:fillRect l="0" t="0" r="0" b="0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C9BB166F-B807-43A8-B46A-0E3240B8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9911" y="7581206"/>
            <a:ext cx="2983116" cy="7096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74">
                <a:solidFill>
                  <a:srgbClr val="F8F8F8"/>
                </a:solidFill>
                <a:latin typeface="Roboto"/>
                <a:ea typeface="Roboto"/>
                <a:cs typeface="Roboto"/>
              </a:rPr>
              <a:t>github.com/bvbvbv54/Paddelni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1B37E79A-54E8-4B3B-B429-BC55C2C8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26842" y="6854356"/>
            <a:ext cx="5239206" cy="1727254"/>
          </a:xfrm>
          <a:custGeom xmlns:a="http://schemas.openxmlformats.org/drawingml/2006/main">
            <a:rect l="l" t="t" r="r" b="b"/>
            <a:pathLst>
              <a:path w="5239206" h="1727254">
                <a:moveTo>
                  <a:pt x="0" y="0"/>
                </a:moveTo>
                <a:lnTo>
                  <a:pt x="5239206" y="0"/>
                </a:lnTo>
                <a:lnTo>
                  <a:pt x="523920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2dae8bd04cc4453"/>
            <a:stretch>
              <a:fillRect l="0" t="0" r="0" b="0"/>
            </a:stretch>
          </a:blipFill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5385DE77-8AD1-4C14-8A2D-062E6A19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45598" y="7062064"/>
            <a:ext cx="1093780" cy="1300906"/>
          </a:xfrm>
          <a:custGeom xmlns:a="http://schemas.openxmlformats.org/drawingml/2006/main">
            <a:rect l="l" t="t" r="r" b="b"/>
            <a:pathLst>
              <a:path w="1093780" h="1300906">
                <a:moveTo>
                  <a:pt x="0" y="0"/>
                </a:moveTo>
                <a:lnTo>
                  <a:pt x="1093780" y="0"/>
                </a:lnTo>
                <a:lnTo>
                  <a:pt x="109378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5c020db55084908"/>
            <a:stretch>
              <a:fillRect l="0" t="0" r="0" b="0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93427C26-BCCB-4DF9-995B-83AAB620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1169" y="7174563"/>
            <a:ext cx="2601897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APPLICATION PREVIEW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04A5AECE-A743-4F16-89E4-D3F452A4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6887" y="7581206"/>
            <a:ext cx="3030093" cy="354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74">
                <a:solidFill>
                  <a:srgbClr val="F8F8F8"/>
                </a:solidFill>
                <a:latin typeface="Roboto"/>
                <a:ea typeface="Roboto"/>
                <a:cs typeface="Roboto"/>
              </a:rPr>
              <a:t>Two-browser client demo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F649387D-1BEF-4FDB-AD2D-3EF65547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8570678"/>
            <a:ext cx="15039474" cy="1508614"/>
          </a:xfrm>
          <a:custGeom xmlns:a="http://schemas.openxmlformats.org/drawingml/2006/main">
            <a:rect l="l" t="t" r="r" b="b"/>
            <a:pathLst>
              <a:path w="15039474" h="1508614">
                <a:moveTo>
                  <a:pt x="0" y="0"/>
                </a:moveTo>
                <a:lnTo>
                  <a:pt x="15039474" y="0"/>
                </a:lnTo>
                <a:lnTo>
                  <a:pt x="1503947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ef8917d2bfb4e67"/>
            <a:stretch>
              <a:fillRect l="0" t="0" r="0" b="0"/>
            </a:stretch>
          </a:blipFill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FF51C542-F71B-4C33-A270-B70157DF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8778386"/>
            <a:ext cx="1323474" cy="1082267"/>
          </a:xfrm>
          <a:custGeom xmlns:a="http://schemas.openxmlformats.org/drawingml/2006/main"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fafd9a96a7e4f76"/>
            <a:stretch>
              <a:fillRect l="0" t="0" r="0" b="0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7B6178EB-4DE4-407C-9EFA-1CE62628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46" y="8891499"/>
            <a:ext cx="1845858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PROJECT IMAGE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4C55F046-E1E8-4BFD-874E-D78A93D5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4314" y="9268020"/>
            <a:ext cx="5349089" cy="354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74">
                <a:solidFill>
                  <a:srgbClr val="F8F8F8"/>
                </a:solidFill>
                <a:latin typeface="Roboto"/>
                <a:ea typeface="Roboto"/>
                <a:cs typeface="Roboto"/>
              </a:rPr>
              <a:t>Real HTTP + Wireshark evidence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07D5950-AB42-4BD6-BADB-3AFA9B67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927" y="4945559"/>
            <a:ext cx="1601041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THE PROBLEM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0215254-D71B-4375-A19A-B453940B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5290" y="7174563"/>
            <a:ext cx="1445183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REPOSITORY</a:t>
            </a:r>
          </a:p>
        </p:txBody>
      </p:sp>
    </p:spTree>
    <p:extLst>
      <p:ext uri="{BB962C8B-B14F-4D97-AF65-F5344CB8AC3E}">
        <p14:creationId xmlns:p14="http://schemas.microsoft.com/office/powerpoint/2010/main" val="15595931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7057461F-C3DF-4F4B-8E56-9CBF8A44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4b9fe57959e4dbe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D2DD70CD-F150-45DC-84B6-5E0376E4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380" y="448943"/>
            <a:ext cx="12419010" cy="91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845"/>
              </a:lnSpc>
              <a:buNone/>
            </a:pPr>
            <a:r>
              <a:rPr sz="6845" b="1" spc="-274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System and Network Architecture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9DAF17EC-B479-4A09-AC9F-599EC971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666" y="1414462"/>
            <a:ext cx="9969328" cy="4295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12"/>
              </a:lnSpc>
              <a:buNone/>
            </a:pPr>
            <a:r>
              <a:rPr sz="2759" b="1" spc="-82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Three physical computers communicating over a private network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046761AA-73D8-4F10-B175-73A752B6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3818" y="1071335"/>
            <a:ext cx="3718852" cy="5575313"/>
          </a:xfrm>
          <a:custGeom xmlns:a="http://schemas.openxmlformats.org/drawingml/2006/main">
            <a:rect l="l" t="t" r="r" b="b"/>
            <a:pathLst>
              <a:path w="3718852" h="5575313">
                <a:moveTo>
                  <a:pt x="0" y="0"/>
                </a:moveTo>
                <a:lnTo>
                  <a:pt x="3718852" y="0"/>
                </a:lnTo>
                <a:lnTo>
                  <a:pt x="3718852" y="5575313"/>
                </a:lnTo>
                <a:lnTo>
                  <a:pt x="0" y="55753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e3041a622a74ea8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18A9B269-EA2E-4658-A66B-A904C307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1194" y="1529413"/>
            <a:ext cx="2811055" cy="295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99"/>
              </a:lnSpc>
              <a:buNone/>
            </a:pPr>
            <a:r>
              <a:rPr sz="1916" b="1" spc="-57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NETWORK INFORMATION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55CC8926-F6D7-4C5F-9647-A51F9AE4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1933" y="2227748"/>
            <a:ext cx="1737169" cy="322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7"/>
              </a:lnSpc>
              <a:buNone/>
            </a:pPr>
            <a:r>
              <a:rPr sz="2047" b="1" spc="-60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Server address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93C86703-BF3E-45DF-909A-AAFBC28C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5905" y="2610013"/>
            <a:ext cx="3018894" cy="307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25"/>
              </a:lnSpc>
              <a:buNone/>
            </a:pPr>
            <a:r>
              <a:rPr sz="1617" b="1" spc="-4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192.168.54.6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E0029FF1-7A84-4402-B6C6-F58B28C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6512" y="3266946"/>
            <a:ext cx="1279265" cy="322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7"/>
              </a:lnSpc>
              <a:buNone/>
            </a:pPr>
            <a:r>
              <a:rPr sz="2047" b="1" spc="-60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Server port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9F72538-ECC0-48FA-BF78-A771F8D9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9492" y="4200718"/>
            <a:ext cx="981292" cy="322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7"/>
              </a:lnSpc>
              <a:buNone/>
            </a:pPr>
            <a:r>
              <a:rPr sz="2047" b="1" spc="-60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Protocol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F86B5A6A-A7CE-4714-A7A1-14B5930C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9538" y="5164611"/>
            <a:ext cx="976627" cy="322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7"/>
              </a:lnSpc>
              <a:buNone/>
            </a:pPr>
            <a:r>
              <a:rPr sz="2047" b="1" spc="-60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Network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3F595BFF-EE17-4FB7-91C7-4B52F50D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8647" y="5561938"/>
            <a:ext cx="2744719" cy="307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25"/>
              </a:lnSpc>
              <a:buNone/>
            </a:pPr>
            <a:r>
              <a:rPr sz="1617" b="1" spc="-4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Wi-Fi LAN / private network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6874B69-EFB4-4C9D-AA6A-F7A9ABBD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8574" y="2142670"/>
            <a:ext cx="5895474" cy="4296271"/>
          </a:xfrm>
          <a:custGeom xmlns:a="http://schemas.openxmlformats.org/drawingml/2006/main">
            <a:rect l="l" t="t" r="r" b="b"/>
            <a:pathLst>
              <a:path w="5895474" h="4296271">
                <a:moveTo>
                  <a:pt x="0" y="0"/>
                </a:moveTo>
                <a:lnTo>
                  <a:pt x="5895474" y="0"/>
                </a:lnTo>
                <a:lnTo>
                  <a:pt x="5895474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43a5e4b366474a"/>
            <a:stretch>
              <a:fillRect l="0" t="0" r="0" b="0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8417E2B5-B2E4-4CC8-A5D1-FABA28BF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9281" y="2483295"/>
            <a:ext cx="4607719" cy="33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26"/>
              </a:lnSpc>
              <a:buNone/>
            </a:pPr>
            <a:r>
              <a:rPr sz="2188" b="1" spc="-65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PHYSICAL SERVER COMPUTER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8091DF4D-CAB4-418E-A477-905B2C53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3598" y="2995365"/>
            <a:ext cx="885962" cy="1508614"/>
          </a:xfrm>
          <a:custGeom xmlns:a="http://schemas.openxmlformats.org/drawingml/2006/main">
            <a:rect l="l" t="t" r="r" b="b"/>
            <a:pathLst>
              <a:path w="885962" h="1508614">
                <a:moveTo>
                  <a:pt x="0" y="0"/>
                </a:moveTo>
                <a:lnTo>
                  <a:pt x="885962" y="0"/>
                </a:lnTo>
                <a:lnTo>
                  <a:pt x="88596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8df282d9fd7424e"/>
            <a:stretch>
              <a:fillRect l="0" t="0" r="0" b="0"/>
            </a:stretch>
          </a:blip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27170714-38A0-4B78-8079-D94961CB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9839" y="3171045"/>
            <a:ext cx="2641842" cy="3843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90"/>
              </a:lnSpc>
              <a:buNone/>
            </a:pPr>
            <a:r>
              <a:rPr sz="2575" b="1" spc="-76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Flask HTTP Server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CC297EF7-B1DC-47DD-BD31-13EE5FF8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9787" y="3668053"/>
            <a:ext cx="1647050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Port: 8000</a:t>
            </a:r>
          </a:p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Protocol: HTTP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E46038F3-3A84-467D-B1A3-CF8F6DC2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6086" y="4493047"/>
            <a:ext cx="5020450" cy="229572"/>
          </a:xfrm>
          <a:custGeom xmlns:a="http://schemas.openxmlformats.org/drawingml/2006/main">
            <a:rect l="l" t="t" r="r" b="b"/>
            <a:pathLst>
              <a:path w="5020450" h="229572">
                <a:moveTo>
                  <a:pt x="0" y="0"/>
                </a:moveTo>
                <a:lnTo>
                  <a:pt x="5020450" y="0"/>
                </a:lnTo>
                <a:lnTo>
                  <a:pt x="5020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b7634d7330b4b72"/>
            <a:stretch>
              <a:fillRect l="0" t="0" r="0" b="0"/>
            </a:stretch>
          </a:blipFill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E33B4D7A-A1D5-47CC-8B83-82FBC1F8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3598" y="4711687"/>
            <a:ext cx="885962" cy="1289974"/>
          </a:xfrm>
          <a:custGeom xmlns:a="http://schemas.openxmlformats.org/drawingml/2006/main">
            <a:rect l="l" t="t" r="r" b="b"/>
            <a:pathLst>
              <a:path w="885962" h="1289974">
                <a:moveTo>
                  <a:pt x="0" y="0"/>
                </a:moveTo>
                <a:lnTo>
                  <a:pt x="885962" y="0"/>
                </a:lnTo>
                <a:lnTo>
                  <a:pt x="88596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ee91084dd134d51"/>
            <a:stretch>
              <a:fillRect l="0" t="0" r="0" b="0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49750E8C-FE2A-404E-BCC5-F44F0F10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4986" y="4903042"/>
            <a:ext cx="2127161" cy="3486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SQLite Database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B1B9AD6E-04F8-492A-862E-F2093D8C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5012" y="5324746"/>
            <a:ext cx="2124577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Centralized storage</a:t>
            </a:r>
          </a:p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Shared by all clients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C4004D9B-1664-44DA-9076-92E84E5E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31464" y="6209369"/>
            <a:ext cx="229694" cy="1300906"/>
          </a:xfrm>
          <a:custGeom xmlns:a="http://schemas.openxmlformats.org/drawingml/2006/main"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98bf666773f4f4d"/>
            <a:stretch>
              <a:fillRect l="0" t="0" r="0" b="0"/>
            </a:stretch>
          </a:blipFill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D374FBA5-132E-4B2C-8549-49608A7D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3244" y="7499343"/>
            <a:ext cx="1968804" cy="437279"/>
          </a:xfrm>
          <a:custGeom xmlns:a="http://schemas.openxmlformats.org/drawingml/2006/main">
            <a:rect l="l" t="t" r="r" b="b"/>
            <a:pathLst>
              <a:path w="1968804" h="437279">
                <a:moveTo>
                  <a:pt x="0" y="0"/>
                </a:moveTo>
                <a:lnTo>
                  <a:pt x="1968804" y="0"/>
                </a:lnTo>
                <a:lnTo>
                  <a:pt x="196880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6265360a54b40de"/>
            <a:stretch>
              <a:fillRect l="0" t="0" r="0" b="0"/>
            </a:stretch>
          </a:blipFill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F279DAE3-F607-499C-B574-2D22543D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2354" y="7280704"/>
            <a:ext cx="3926670" cy="863627"/>
          </a:xfrm>
          <a:custGeom xmlns:a="http://schemas.openxmlformats.org/drawingml/2006/main">
            <a:rect l="l" t="t" r="r" b="b"/>
            <a:pathLst>
              <a:path w="3926670" h="863627">
                <a:moveTo>
                  <a:pt x="0" y="0"/>
                </a:moveTo>
                <a:lnTo>
                  <a:pt x="3926670" y="0"/>
                </a:lnTo>
                <a:lnTo>
                  <a:pt x="392667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ffdea1e4b4f4335"/>
            <a:stretch>
              <a:fillRect l="0" t="0" r="0" b="0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B9274559-704D-4C78-8877-22D320FD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9281" y="7603981"/>
            <a:ext cx="4607719" cy="33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26"/>
              </a:lnSpc>
              <a:buNone/>
            </a:pPr>
            <a:r>
              <a:rPr sz="2188" b="1" spc="-65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PRIVATE LAN NETWORK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87C1C5E1-A435-4A4F-B610-57D18922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89330" y="7499343"/>
            <a:ext cx="1968804" cy="437279"/>
          </a:xfrm>
          <a:custGeom xmlns:a="http://schemas.openxmlformats.org/drawingml/2006/main">
            <a:rect l="l" t="t" r="r" b="b"/>
            <a:pathLst>
              <a:path w="1968804" h="437279">
                <a:moveTo>
                  <a:pt x="0" y="0"/>
                </a:moveTo>
                <a:lnTo>
                  <a:pt x="1968804" y="0"/>
                </a:lnTo>
                <a:lnTo>
                  <a:pt x="196880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33a0d495a364783"/>
            <a:stretch>
              <a:fillRect l="0" t="0" r="0" b="0"/>
            </a:stretch>
          </a:blipFill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BCEC02C7-096A-4178-B3F8-087725C5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6635716"/>
            <a:ext cx="3718852" cy="2153601"/>
          </a:xfrm>
          <a:custGeom xmlns:a="http://schemas.openxmlformats.org/drawingml/2006/main">
            <a:rect l="l" t="t" r="r" b="b"/>
            <a:pathLst>
              <a:path w="3718852" h="2153601">
                <a:moveTo>
                  <a:pt x="0" y="0"/>
                </a:moveTo>
                <a:lnTo>
                  <a:pt x="3718852" y="0"/>
                </a:lnTo>
                <a:lnTo>
                  <a:pt x="3718852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43cc162bc6431f"/>
            <a:stretch>
              <a:fillRect l="0" t="0" r="0" b="0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DCF08982-B34D-4525-9911-17F9D89F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4039" y="6941304"/>
            <a:ext cx="3375422" cy="33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26"/>
              </a:lnSpc>
              <a:buNone/>
            </a:pPr>
            <a:r>
              <a:rPr sz="2188" b="1" spc="-65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CLIENT COMPUTER 1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287840EB-1C85-4A81-B43F-A1E54B79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2842" y="7499343"/>
            <a:ext cx="1531292" cy="1082267"/>
          </a:xfrm>
          <a:custGeom xmlns:a="http://schemas.openxmlformats.org/drawingml/2006/main">
            <a:rect l="l" t="t" r="r" b="b"/>
            <a:pathLst>
              <a:path w="1531292" h="1082267">
                <a:moveTo>
                  <a:pt x="0" y="0"/>
                </a:moveTo>
                <a:lnTo>
                  <a:pt x="1531292" y="0"/>
                </a:lnTo>
                <a:lnTo>
                  <a:pt x="153129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754cd509c44e6a"/>
            <a:stretch>
              <a:fillRect l="0" t="0" r="0" b="0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702F2267-3992-4315-B456-DBB587DD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1815" y="7613993"/>
            <a:ext cx="1066917" cy="3486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Browser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EF5D5B1B-2068-42F9-ABD5-5334B16B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2938" y="8020636"/>
            <a:ext cx="954687" cy="2950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Athlete 1</a:t>
            </a: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2F4239B2-6FEB-4FCC-BCEF-6C4F6128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4440" y="3640352"/>
            <a:ext cx="2625072" cy="2798589"/>
          </a:xfrm>
          <a:custGeom xmlns:a="http://schemas.openxmlformats.org/drawingml/2006/main">
            <a:rect l="l" t="t" r="r" b="b"/>
            <a:pathLst>
              <a:path w="2625072" h="2798589">
                <a:moveTo>
                  <a:pt x="0" y="0"/>
                </a:moveTo>
                <a:lnTo>
                  <a:pt x="2625072" y="0"/>
                </a:lnTo>
                <a:lnTo>
                  <a:pt x="262507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f66a346663f4c7d"/>
            <a:stretch>
              <a:fillRect l="0" t="0" r="0" b="0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8B46DFE8-308B-4A6F-97F7-205BEE69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6167" y="4451217"/>
            <a:ext cx="899882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Request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F85D7F8-1703-4AC6-954A-72F591FC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21952" y="4066699"/>
            <a:ext cx="2406316" cy="2798589"/>
          </a:xfrm>
          <a:custGeom xmlns:a="http://schemas.openxmlformats.org/drawingml/2006/main">
            <a:rect l="l" t="t" r="r" b="b"/>
            <a:pathLst>
              <a:path w="2406316" h="2798589">
                <a:moveTo>
                  <a:pt x="0" y="0"/>
                </a:moveTo>
                <a:lnTo>
                  <a:pt x="2406316" y="0"/>
                </a:lnTo>
                <a:lnTo>
                  <a:pt x="2406316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96389362104128"/>
            <a:stretch>
              <a:fillRect l="0" t="0" r="0" b="0"/>
            </a:stretch>
          </a:blip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9F50AFA7-3BD0-4007-882C-ADE79EE0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387" y="5535597"/>
            <a:ext cx="1083210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Response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5AFE0FD5-D7FF-48FD-BD1C-0D1C9DA3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8440" y="6635716"/>
            <a:ext cx="3937608" cy="2153601"/>
          </a:xfrm>
          <a:custGeom xmlns:a="http://schemas.openxmlformats.org/drawingml/2006/main">
            <a:rect l="l" t="t" r="r" b="b"/>
            <a:pathLst>
              <a:path w="3937608" h="2153601">
                <a:moveTo>
                  <a:pt x="0" y="0"/>
                </a:moveTo>
                <a:lnTo>
                  <a:pt x="3937608" y="0"/>
                </a:lnTo>
                <a:lnTo>
                  <a:pt x="3937608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6daf5f2a185472d"/>
            <a:stretch>
              <a:fillRect l="0" t="0" r="0" b="0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43C83583-A321-4D29-860C-16B804DB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3977" y="6941304"/>
            <a:ext cx="3375422" cy="33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26"/>
              </a:lnSpc>
              <a:buNone/>
            </a:pPr>
            <a:r>
              <a:rPr sz="2188" b="1" spc="-65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CLIENT COMPUTER 2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D1058D00-CAF7-4F15-AA61-08C60E0F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4708" y="7499343"/>
            <a:ext cx="1323474" cy="1082267"/>
          </a:xfrm>
          <a:custGeom xmlns:a="http://schemas.openxmlformats.org/drawingml/2006/main"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b6ad7c6f1ca4d51"/>
            <a:stretch>
              <a:fillRect l="0" t="0" r="0" b="0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2C566EC7-D4FF-48B0-B55E-0D9B2B22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8542" y="7613993"/>
            <a:ext cx="1066917" cy="3486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Browser</a:t>
            </a: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5E69A199-3094-4D4D-B9E1-822F6FE0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83110" y="3640352"/>
            <a:ext cx="2625072" cy="2798589"/>
          </a:xfrm>
          <a:custGeom xmlns:a="http://schemas.openxmlformats.org/drawingml/2006/main">
            <a:rect l="l" t="t" r="r" b="b"/>
            <a:pathLst>
              <a:path w="2625072" h="2798589">
                <a:moveTo>
                  <a:pt x="0" y="0"/>
                </a:moveTo>
                <a:lnTo>
                  <a:pt x="2625072" y="0"/>
                </a:lnTo>
                <a:lnTo>
                  <a:pt x="262507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40fe4835762497f"/>
            <a:stretch>
              <a:fillRect l="0" t="0" r="0" b="0"/>
            </a:stretch>
          </a:blip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BEC9310F-1670-41E3-A4A4-BE45D09C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3073" y="4451217"/>
            <a:ext cx="899882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Request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90223F65-A7B9-4AAB-BBBF-C7514C29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64354" y="4066699"/>
            <a:ext cx="2406316" cy="2798589"/>
          </a:xfrm>
          <a:custGeom xmlns:a="http://schemas.openxmlformats.org/drawingml/2006/main">
            <a:rect l="l" t="t" r="r" b="b"/>
            <a:pathLst>
              <a:path w="2406316" h="2798589">
                <a:moveTo>
                  <a:pt x="0" y="0"/>
                </a:moveTo>
                <a:lnTo>
                  <a:pt x="2406316" y="0"/>
                </a:lnTo>
                <a:lnTo>
                  <a:pt x="2406316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75384d2b3304177"/>
            <a:stretch>
              <a:fillRect l="0" t="0" r="0" b="0"/>
            </a:stretch>
          </a:blipFill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A6B3FDD1-0D5D-43A1-A02A-1F180F23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0543" y="5535597"/>
            <a:ext cx="1083210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Response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457B4CFA-E983-48C8-AAD0-F0DA3D92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8778386"/>
            <a:ext cx="11550316" cy="1508614"/>
          </a:xfrm>
          <a:custGeom xmlns:a="http://schemas.openxmlformats.org/drawingml/2006/main">
            <a:rect l="l" t="t" r="r" b="b"/>
            <a:pathLst>
              <a:path w="11550316" h="1508614">
                <a:moveTo>
                  <a:pt x="0" y="0"/>
                </a:moveTo>
                <a:lnTo>
                  <a:pt x="11550316" y="0"/>
                </a:lnTo>
                <a:lnTo>
                  <a:pt x="1155031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04956d431a444ea"/>
            <a:stretch>
              <a:fillRect l="0" t="0" r="0" b="0"/>
            </a:stretch>
          </a:blipFill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C406101A-D5BC-4538-991B-17852886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1598" y="8997026"/>
            <a:ext cx="885962" cy="1082267"/>
          </a:xfrm>
          <a:custGeom xmlns:a="http://schemas.openxmlformats.org/drawingml/2006/main"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1f53ebe13a74943"/>
            <a:stretch>
              <a:fillRect l="0" t="0" r="0" b="0"/>
            </a:stretch>
          </a:blipFill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B65149B8-0FA1-44E6-B177-89B1924D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6035" y="9150199"/>
            <a:ext cx="8498107" cy="687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Both clients communicate with the same backend,</a:t>
            </a:r>
          </a:p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so data created by one player can be discovered by another player.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2354C12E-A7E9-4A10-8516-380FC58F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9664" y="8020636"/>
            <a:ext cx="954687" cy="2950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Athlete 2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48A5B5C9-2EDD-4E83-8D00-E5D553E3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3908" y="4567922"/>
            <a:ext cx="539623" cy="2990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25"/>
              </a:lnSpc>
              <a:buNone/>
            </a:pPr>
            <a:r>
              <a:rPr sz="1617" b="1" spc="-4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2A815AE0-00B2-4E52-BA0C-F462C650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4551" y="3619089"/>
            <a:ext cx="475395" cy="2990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25"/>
              </a:lnSpc>
              <a:buNone/>
            </a:pPr>
            <a:r>
              <a:rPr sz="1617" b="1" spc="-4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8000</a:t>
            </a:r>
          </a:p>
        </p:txBody>
      </p:sp>
    </p:spTree>
    <p:extLst>
      <p:ext uri="{BB962C8B-B14F-4D97-AF65-F5344CB8AC3E}">
        <p14:creationId xmlns:p14="http://schemas.microsoft.com/office/powerpoint/2010/main" val="11456730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B07EFA30-2CAA-43DB-9A27-4A03758B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0a57f4ac8cb48a1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85098775-AB90-4B3F-A546-4F6BE0E4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829" y="524247"/>
            <a:ext cx="10731948" cy="91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845"/>
              </a:lnSpc>
              <a:buNone/>
            </a:pPr>
            <a:r>
              <a:rPr sz="6845" b="1" spc="-340">
                <a:solidFill>
                  <a:srgbClr val="F1EEEA"/>
                </a:solidFill>
                <a:latin typeface="Roboto Bold"/>
                <a:ea typeface="Roboto Bold"/>
                <a:cs typeface="Roboto Bold"/>
              </a:rPr>
              <a:t>Application Implementation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9C038B83-E418-4966-8C98-8422EE12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641" y="1577708"/>
            <a:ext cx="6950746" cy="3711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59"/>
              </a:lnSpc>
              <a:buNone/>
            </a:pPr>
            <a:r>
              <a:rPr sz="2759" b="1" spc="-137">
                <a:solidFill>
                  <a:srgbClr val="9FBD5A"/>
                </a:solidFill>
                <a:latin typeface="Roboto Bold"/>
                <a:ea typeface="Roboto Bold"/>
                <a:cs typeface="Roboto Bold"/>
              </a:rPr>
              <a:t>Core components of the Padeli Hyeti system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B7BD73A-DE79-4091-8540-518915F9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2142670"/>
            <a:ext cx="5895474" cy="3224936"/>
          </a:xfrm>
          <a:custGeom xmlns:a="http://schemas.openxmlformats.org/drawingml/2006/main">
            <a:rect l="l" t="t" r="r" b="b"/>
            <a:pathLst>
              <a:path w="5895474" h="3224936">
                <a:moveTo>
                  <a:pt x="0" y="0"/>
                </a:moveTo>
                <a:lnTo>
                  <a:pt x="5895474" y="0"/>
                </a:lnTo>
                <a:lnTo>
                  <a:pt x="589547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9f6c376cdf411d"/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040C3D4-6E86-4640-9882-53BE988F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2776725"/>
            <a:ext cx="1323474" cy="1300906"/>
          </a:xfrm>
          <a:custGeom xmlns:a="http://schemas.openxmlformats.org/drawingml/2006/main">
            <a:rect l="l" t="t" r="r" b="b"/>
            <a:pathLst>
              <a:path w="1323474" h="1300906">
                <a:moveTo>
                  <a:pt x="0" y="0"/>
                </a:moveTo>
                <a:lnTo>
                  <a:pt x="1323474" y="0"/>
                </a:lnTo>
                <a:lnTo>
                  <a:pt x="1323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65f83cfed934db9"/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59DC5956-8E9D-4F66-8E6C-511948A8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7045" y="2842763"/>
            <a:ext cx="1360385" cy="349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23"/>
              </a:lnSpc>
              <a:buNone/>
            </a:pPr>
            <a:r>
              <a:rPr sz="2623" b="1" spc="-13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Frontend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63F2671-B33C-407D-974C-D6617251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9179" y="3454536"/>
            <a:ext cx="3146895" cy="1003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92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HTML5, CSS3, </a:t>
            </a: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Jinja templates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Minimal JavaScript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Browser-based interaction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73883E66-5D79-4300-8686-43FF3770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5356674"/>
            <a:ext cx="5895474" cy="3224936"/>
          </a:xfrm>
          <a:custGeom xmlns:a="http://schemas.openxmlformats.org/drawingml/2006/main">
            <a:rect l="l" t="t" r="r" b="b"/>
            <a:pathLst>
              <a:path w="5895474" h="3224936">
                <a:moveTo>
                  <a:pt x="0" y="0"/>
                </a:moveTo>
                <a:lnTo>
                  <a:pt x="5895474" y="0"/>
                </a:lnTo>
                <a:lnTo>
                  <a:pt x="589547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48b4a109df4503"/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B65C7FA8-D800-4863-8EF5-6A5F2F17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5783021"/>
            <a:ext cx="1323474" cy="1289974"/>
          </a:xfrm>
          <a:custGeom xmlns:a="http://schemas.openxmlformats.org/drawingml/2006/main">
            <a:rect l="l" t="t" r="r" b="b"/>
            <a:pathLst>
              <a:path w="1323474" h="1289974">
                <a:moveTo>
                  <a:pt x="0" y="0"/>
                </a:moveTo>
                <a:lnTo>
                  <a:pt x="1323474" y="0"/>
                </a:lnTo>
                <a:lnTo>
                  <a:pt x="1323474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5690d2714ce44d0"/>
            <a:stretch>
              <a:fillRect l="0" t="0" r="0" b="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2D2F679F-FC03-4EB4-875D-791FAB16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6428" y="5900114"/>
            <a:ext cx="1422063" cy="349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23"/>
              </a:lnSpc>
              <a:buNone/>
            </a:pPr>
            <a:r>
              <a:rPr sz="2623" b="1" spc="-13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Database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74E16660-3E5D-4CE0-8BC0-B5F53810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3746" y="6391400"/>
            <a:ext cx="2690239" cy="168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92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SQLite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Persistent storage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Foreign keys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Unique constraints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Parametrized SQL queries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3F17742-56F0-4521-9945-AB6BC7AB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2354" y="2142670"/>
            <a:ext cx="5665780" cy="3224936"/>
          </a:xfrm>
          <a:custGeom xmlns:a="http://schemas.openxmlformats.org/drawingml/2006/main">
            <a:rect l="l" t="t" r="r" b="b"/>
            <a:pathLst>
              <a:path w="5665780" h="3224936">
                <a:moveTo>
                  <a:pt x="0" y="0"/>
                </a:moveTo>
                <a:lnTo>
                  <a:pt x="5665780" y="0"/>
                </a:lnTo>
                <a:lnTo>
                  <a:pt x="566578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3dce6a037ca41da"/>
            <a:stretch>
              <a:fillRect l="0" t="0" r="0" b="0"/>
            </a:stretch>
          </a:blip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7CCEA348-D3BD-4184-BA03-0F0BBC3F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9866" y="2776725"/>
            <a:ext cx="1531292" cy="1300906"/>
          </a:xfrm>
          <a:custGeom xmlns:a="http://schemas.openxmlformats.org/drawingml/2006/main">
            <a:rect l="l" t="t" r="r" b="b"/>
            <a:pathLst>
              <a:path w="1531292" h="1300906">
                <a:moveTo>
                  <a:pt x="0" y="0"/>
                </a:moveTo>
                <a:lnTo>
                  <a:pt x="1531292" y="0"/>
                </a:lnTo>
                <a:lnTo>
                  <a:pt x="153129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49c8978dea64225"/>
            <a:stretch>
              <a:fillRect l="0" t="0" r="0" b="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52F23A6-8BAE-4D6F-80C9-BC9A3EA8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7474" y="2842763"/>
            <a:ext cx="1318994" cy="349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23"/>
              </a:lnSpc>
              <a:buNone/>
            </a:pPr>
            <a:r>
              <a:rPr sz="2623" b="1" spc="-13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Backend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A8AFFF57-9E33-48EB-B343-F4657C0B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6190" y="3383987"/>
            <a:ext cx="2447361" cy="1421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b="1" spc="-95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Python 3, Flask</a:t>
            </a:r>
          </a:p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95">
                <a:solidFill>
                  <a:srgbClr val="182522"/>
                </a:solidFill>
                <a:latin typeface="Roboto"/>
                <a:ea typeface="Roboto"/>
                <a:cs typeface="Roboto"/>
              </a:rPr>
              <a:t>Session authentication</a:t>
            </a:r>
          </a:p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95">
                <a:solidFill>
                  <a:srgbClr val="182522"/>
                </a:solidFill>
                <a:latin typeface="Roboto"/>
                <a:ea typeface="Roboto"/>
                <a:cs typeface="Roboto"/>
              </a:rPr>
              <a:t>JSON API endpoints</a:t>
            </a:r>
          </a:p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95">
                <a:solidFill>
                  <a:srgbClr val="182522"/>
                </a:solidFill>
                <a:latin typeface="Roboto"/>
                <a:ea typeface="Roboto"/>
                <a:cs typeface="Roboto"/>
              </a:rPr>
              <a:t>Server-side validation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060085DB-DFF8-49E7-959F-94905B8B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2354" y="5356674"/>
            <a:ext cx="5665780" cy="3224936"/>
          </a:xfrm>
          <a:custGeom xmlns:a="http://schemas.openxmlformats.org/drawingml/2006/main">
            <a:rect l="l" t="t" r="r" b="b"/>
            <a:pathLst>
              <a:path w="5665780" h="3224936">
                <a:moveTo>
                  <a:pt x="0" y="0"/>
                </a:moveTo>
                <a:lnTo>
                  <a:pt x="5665780" y="0"/>
                </a:lnTo>
                <a:lnTo>
                  <a:pt x="566578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bd5435dd61344a6"/>
            <a:stretch>
              <a:fillRect l="0" t="0" r="0" b="0"/>
            </a:stretch>
          </a:blipFill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DF8CE686-0753-4B99-86F8-BC6D3BB5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9866" y="5783021"/>
            <a:ext cx="1531292" cy="1289974"/>
          </a:xfrm>
          <a:custGeom xmlns:a="http://schemas.openxmlformats.org/drawingml/2006/main">
            <a:rect l="l" t="t" r="r" b="b"/>
            <a:pathLst>
              <a:path w="1531292" h="1289974">
                <a:moveTo>
                  <a:pt x="0" y="0"/>
                </a:moveTo>
                <a:lnTo>
                  <a:pt x="1531292" y="0"/>
                </a:lnTo>
                <a:lnTo>
                  <a:pt x="1531292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6302e2bf4b14692"/>
            <a:stretch>
              <a:fillRect l="0" t="0" r="0" b="0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AF5390AD-32D7-4F58-9208-6429AFB9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8051" y="6422116"/>
            <a:ext cx="3261353" cy="16787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b="1" spc="-8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Werkzeug password hashing</a:t>
            </a:r>
          </a:p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spc="-80">
                <a:solidFill>
                  <a:srgbClr val="182522"/>
                </a:solidFill>
                <a:latin typeface="Roboto"/>
                <a:ea typeface="Roboto"/>
                <a:cs typeface="Roboto"/>
              </a:rPr>
              <a:t>Passwords never stored in plaintext</a:t>
            </a:r>
          </a:p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spc="-80">
                <a:solidFill>
                  <a:srgbClr val="182522"/>
                </a:solidFill>
                <a:latin typeface="Roboto"/>
                <a:ea typeface="Roboto"/>
                <a:cs typeface="Roboto"/>
              </a:rPr>
              <a:t>CSRF protection</a:t>
            </a:r>
          </a:p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spc="-80">
                <a:solidFill>
                  <a:srgbClr val="182522"/>
                </a:solidFill>
                <a:latin typeface="Roboto"/>
                <a:ea typeface="Roboto"/>
                <a:cs typeface="Roboto"/>
              </a:rPr>
              <a:t>HTTP-only session cookies</a:t>
            </a:r>
          </a:p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spc="-80">
                <a:solidFill>
                  <a:srgbClr val="182522"/>
                </a:solidFill>
                <a:latin typeface="Roboto"/>
                <a:ea typeface="Roboto"/>
                <a:cs typeface="Roboto"/>
              </a:rPr>
              <a:t>Private profile information protected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0ECD6542-B2B1-4285-A33A-E6DB5F18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6086" y="4493047"/>
            <a:ext cx="1531292" cy="1727254"/>
          </a:xfrm>
          <a:custGeom xmlns:a="http://schemas.openxmlformats.org/drawingml/2006/main">
            <a:rect l="l" t="t" r="r" b="b"/>
            <a:pathLst>
              <a:path w="1531292" h="1727254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5681615d7fa47c1"/>
            <a:stretch>
              <a:fillRect l="0" t="0" r="0" b="0"/>
            </a:stretch>
          </a:blipFill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9E293BF2-F79B-4088-88DF-85017EE2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8778386"/>
            <a:ext cx="11331560" cy="1300906"/>
          </a:xfrm>
          <a:custGeom xmlns:a="http://schemas.openxmlformats.org/drawingml/2006/main">
            <a:rect l="l" t="t" r="r" b="b"/>
            <a:pathLst>
              <a:path w="11331560" h="1300906">
                <a:moveTo>
                  <a:pt x="0" y="0"/>
                </a:moveTo>
                <a:lnTo>
                  <a:pt x="11331560" y="0"/>
                </a:lnTo>
                <a:lnTo>
                  <a:pt x="1133156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407ed2c485a4215"/>
            <a:stretch>
              <a:fillRect l="0" t="0" r="0" b="0"/>
            </a:stretch>
          </a:blipFill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ED7DE8EA-AB97-44CD-9279-0B78D422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8997026"/>
            <a:ext cx="1104718" cy="1082267"/>
          </a:xfrm>
          <a:custGeom xmlns:a="http://schemas.openxmlformats.org/drawingml/2006/main"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074443cbefd4f0f"/>
            <a:stretch>
              <a:fillRect l="0" t="0" r="0" b="0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AC6A2F2F-B70C-41C2-A575-B8ED9922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9914" y="9125309"/>
            <a:ext cx="7286625" cy="7235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30"/>
              </a:lnSpc>
              <a:buNone/>
            </a:pPr>
            <a:r>
              <a:rPr sz="2254" spc="-112">
                <a:solidFill>
                  <a:srgbClr val="F1EEEA"/>
                </a:solidFill>
                <a:latin typeface="Roboto"/>
                <a:ea typeface="Roboto"/>
                <a:cs typeface="Roboto"/>
              </a:rPr>
              <a:t>Basic security suitable for controlled university demonstration,</a:t>
            </a:r>
            <a:r>
              <a:rPr sz="2254" b="1" spc="-112">
                <a:solidFill>
                  <a:srgbClr val="9FBD5A"/>
                </a:solidFill>
                <a:latin typeface="Roboto Bold"/>
                <a:ea typeface="Roboto Bold"/>
                <a:cs typeface="Roboto Bold"/>
              </a:rPr>
              <a:t> not production-grade.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57492429-6ED8-4F7C-A377-1E29B6C8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4708" y="852695"/>
            <a:ext cx="5457962" cy="8800250"/>
          </a:xfrm>
          <a:custGeom xmlns:a="http://schemas.openxmlformats.org/drawingml/2006/main">
            <a:rect l="l" t="t" r="r" b="b"/>
            <a:pathLst>
              <a:path w="5457962" h="8800250">
                <a:moveTo>
                  <a:pt x="0" y="0"/>
                </a:moveTo>
                <a:lnTo>
                  <a:pt x="5457962" y="0"/>
                </a:lnTo>
                <a:lnTo>
                  <a:pt x="5457962" y="8800250"/>
                </a:lnTo>
                <a:lnTo>
                  <a:pt x="0" y="88002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f74a6118f646ea"/>
            <a:stretch>
              <a:fillRect l="0" t="0" r="0" b="0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D282839C-6476-4670-8444-7B5C4FF8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78383" y="1400325"/>
            <a:ext cx="4554141" cy="2852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88"/>
              </a:lnSpc>
              <a:buNone/>
            </a:pPr>
            <a:r>
              <a:rPr sz="2188" b="1" spc="-108">
                <a:solidFill>
                  <a:srgbClr val="9FBD5A"/>
                </a:solidFill>
                <a:latin typeface="Roboto Bold"/>
                <a:ea typeface="Roboto Bold"/>
                <a:cs typeface="Roboto Bold"/>
              </a:rPr>
              <a:t>Project File Structure (Example)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163BD00E-552F-4FA8-A964-BBF2826C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22220" y="1924030"/>
            <a:ext cx="667206" cy="437279"/>
          </a:xfrm>
          <a:custGeom xmlns:a="http://schemas.openxmlformats.org/drawingml/2006/main"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831432afc24589"/>
            <a:stretch>
              <a:fillRect l="0" t="0" r="0" b="0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47EA2A40-52AE-4835-A900-AA819D30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0504" y="1947894"/>
            <a:ext cx="1650405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padeli_hyeti/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C6B5DC0E-5401-48B7-85B8-0F30A8E6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2350377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bf0439e54b44460"/>
            <a:stretch>
              <a:fillRect l="0" t="0" r="0" b="0"/>
            </a:stretch>
          </a:blipFill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EF4A2C35-197C-41C6-BD34-69624D8F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2776725"/>
            <a:ext cx="437512" cy="448211"/>
          </a:xfrm>
          <a:custGeom xmlns:a="http://schemas.openxmlformats.org/drawingml/2006/main">
            <a:rect l="l" t="t" r="r" b="b"/>
            <a:pathLst>
              <a:path w="437512" h="448211">
                <a:moveTo>
                  <a:pt x="0" y="0"/>
                </a:moveTo>
                <a:lnTo>
                  <a:pt x="437512" y="0"/>
                </a:lnTo>
                <a:lnTo>
                  <a:pt x="43751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feb001033d84c10"/>
            <a:stretch>
              <a:fillRect l="0" t="0" r="0" b="0"/>
            </a:stretch>
          </a:blipFill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DA265E58-B8D9-4831-B1BA-A4BDAF2B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2995365"/>
            <a:ext cx="437512" cy="655919"/>
          </a:xfrm>
          <a:custGeom xmlns:a="http://schemas.openxmlformats.org/drawingml/2006/main">
            <a:rect l="l" t="t" r="r" b="b"/>
            <a:pathLst>
              <a:path w="437512" h="655919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5bc4d2d4b7a487d"/>
            <a:stretch>
              <a:fillRect l="0" t="0" r="0" b="0"/>
            </a:stretch>
          </a:blipFill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25545C08-0C63-45BC-81EA-2DA2697B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3421712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f98500222d849e5"/>
            <a:stretch>
              <a:fillRect l="0" t="0" r="0" b="0"/>
            </a:stretch>
          </a:blip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F115589B-4B5B-415A-BE4D-4339BAE9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0461" y="3514221"/>
            <a:ext cx="1269542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templates/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2BAFDA48-7B94-4E73-AD40-EACFC249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3848060"/>
            <a:ext cx="437512" cy="448211"/>
          </a:xfrm>
          <a:custGeom xmlns:a="http://schemas.openxmlformats.org/drawingml/2006/main">
            <a:rect l="l" t="t" r="r" b="b"/>
            <a:pathLst>
              <a:path w="437512" h="448211">
                <a:moveTo>
                  <a:pt x="0" y="0"/>
                </a:moveTo>
                <a:lnTo>
                  <a:pt x="437512" y="0"/>
                </a:lnTo>
                <a:lnTo>
                  <a:pt x="43751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326d6e11128431d"/>
            <a:stretch>
              <a:fillRect l="0" t="0" r="0" b="0"/>
            </a:stretch>
          </a:blipFill>
        </p:spPr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B65FF412-8DDF-4165-ABDB-BD47A5AE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4285339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556b55933c460d"/>
            <a:stretch>
              <a:fillRect l="0" t="0" r="0" b="0"/>
            </a:stretch>
          </a:blipFill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E26A0F9E-02C6-4A5C-B618-380E5D64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4493047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ceb4d8b26ae47ec"/>
            <a:stretch>
              <a:fillRect l="0" t="0" r="0" b="0"/>
            </a:stretch>
          </a:blipFill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B172E7A0-31C9-4A86-9F15-F5CBC730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4919394"/>
            <a:ext cx="437512" cy="448211"/>
          </a:xfrm>
          <a:custGeom xmlns:a="http://schemas.openxmlformats.org/drawingml/2006/main">
            <a:rect l="l" t="t" r="r" b="b"/>
            <a:pathLst>
              <a:path w="437512" h="448211">
                <a:moveTo>
                  <a:pt x="0" y="0"/>
                </a:moveTo>
                <a:lnTo>
                  <a:pt x="437512" y="0"/>
                </a:lnTo>
                <a:lnTo>
                  <a:pt x="437512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cb0ef55101a4e7b"/>
            <a:stretch>
              <a:fillRect l="0" t="0" r="0" b="0"/>
            </a:stretch>
          </a:blipFill>
        </p:spPr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409E6C57-D76C-4033-BBC2-685E2CA6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3818" y="5356674"/>
            <a:ext cx="448450" cy="437279"/>
          </a:xfrm>
          <a:custGeom xmlns:a="http://schemas.openxmlformats.org/drawingml/2006/main"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386c735cd5f446e"/>
            <a:stretch>
              <a:fillRect l="0" t="0" r="0" b="0"/>
            </a:stretch>
          </a:blipFill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10483D8-B72D-46D2-A6C3-2F1019F7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42574" y="5783021"/>
            <a:ext cx="448450" cy="437279"/>
          </a:xfrm>
          <a:custGeom xmlns:a="http://schemas.openxmlformats.org/drawingml/2006/main"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a4d094f391d45a1"/>
            <a:stretch>
              <a:fillRect l="0" t="0" r="0" b="0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BD5A3D63-4AF5-4AB0-8357-CD31EFA0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49348" y="5758287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style.css</a:t>
            </a: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96598B00-6018-4B9E-95C6-CFEB3135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3818" y="6209369"/>
            <a:ext cx="448450" cy="229572"/>
          </a:xfrm>
          <a:custGeom xmlns:a="http://schemas.openxmlformats.org/drawingml/2006/main">
            <a:rect l="l" t="t" r="r" b="b"/>
            <a:pathLst>
              <a:path w="448450" h="229572">
                <a:moveTo>
                  <a:pt x="0" y="0"/>
                </a:moveTo>
                <a:lnTo>
                  <a:pt x="448450" y="0"/>
                </a:lnTo>
                <a:lnTo>
                  <a:pt x="448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4fbab8fc57d4fa2"/>
            <a:stretch>
              <a:fillRect l="0" t="0" r="0" b="0"/>
            </a:stretch>
          </a:blip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9CFF45A4-67F6-4AD7-8294-38B6CF10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42574" y="6428009"/>
            <a:ext cx="448450" cy="437279"/>
          </a:xfrm>
          <a:custGeom xmlns:a="http://schemas.openxmlformats.org/drawingml/2006/main"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96e98e08d04ed4"/>
            <a:stretch>
              <a:fillRect l="0" t="0" r="0" b="0"/>
            </a:stretch>
          </a:blipFill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C28C54D6-CF08-47F5-A55C-58BF70E9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6854356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c04c2bc90d244ba"/>
            <a:stretch>
              <a:fillRect l="0" t="0" r="0" b="0"/>
            </a:stretch>
          </a:blipFill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EFB1C56E-2CDA-4460-8774-8DD7C189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730" y="6872789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database/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DB5E751F-3776-4D1D-8952-98CC67CD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7280704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56b2757310e4e99"/>
            <a:stretch>
              <a:fillRect l="0" t="0" r="0" b="0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6FC5B61A-DAD3-41F8-9557-8277434E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0293" y="7234249"/>
            <a:ext cx="1396497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database.py</a:t>
            </a:r>
          </a:p>
        </p:txBody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C9BD159B-863F-46CB-B2B8-7F33C0A7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7499343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7208c3aaa514da9"/>
            <a:stretch>
              <a:fillRect l="0" t="0" r="0" b="0"/>
            </a:stretch>
          </a:blipFill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366A74E5-BDD0-47BA-98EE-45088380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45215" y="7610770"/>
            <a:ext cx="1904313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padeli_hyeti.db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EF59C96F-3C8C-46D2-A4F7-052FDCD9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7925691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f8fe3f159c4e5c"/>
            <a:stretch>
              <a:fillRect l="0" t="0" r="0" b="0"/>
            </a:stretch>
          </a:blipFill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0084AD49-80D5-4AA7-A26E-75AFE2CB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88750" y="8002352"/>
            <a:ext cx="761725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utils/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0E42BF55-3471-4262-B72F-07A580F2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8352038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7e735fefe9d45c1"/>
            <a:stretch>
              <a:fillRect l="0" t="0" r="0" b="0"/>
            </a:stretch>
          </a:blipFill>
        </p:spPr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634C41A4-8B45-446F-A2BF-AFC716B5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40976" y="8778386"/>
            <a:ext cx="448450" cy="437279"/>
          </a:xfrm>
          <a:custGeom xmlns:a="http://schemas.openxmlformats.org/drawingml/2006/main"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546aef4e7bc4714"/>
            <a:stretch>
              <a:fillRect l="0" t="0" r="0" b="0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98BC215-6DF3-4C19-A98B-4ECD2731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8265" y="5900114"/>
            <a:ext cx="1239902" cy="349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23"/>
              </a:lnSpc>
              <a:buNone/>
            </a:pPr>
            <a:r>
              <a:rPr sz="2623" b="1" spc="-13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Security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AB335B39-8163-4F97-B065-0ECA531C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2832" y="2761179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_init_.py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E19A9119-51D8-45AA-97D8-C17F4ABE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1562" y="4643784"/>
            <a:ext cx="1269542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login.html</a:t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7BDD1256-79FC-4913-B557-5E26ED04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1562" y="4282324"/>
            <a:ext cx="1269542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index.html</a:t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0D4B135D-009D-4728-AD8C-1B3D2C18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2832" y="3152761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routes.py</a:t>
            </a:r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503259E2-8244-4939-8AB1-EE631DEC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2832" y="3890742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base.html</a:t>
            </a:r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140B58CC-22D3-4C56-A40D-574CE7C8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4269" y="5005245"/>
            <a:ext cx="888680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static/</a:t>
            </a:r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3E1196D5-ABAB-4C54-B05D-28FDEBE4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51887" y="6496268"/>
            <a:ext cx="888680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main.js</a:t>
            </a:r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99F8A99A-D7D8-4FB3-A02D-2815B36C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75004" y="8393934"/>
            <a:ext cx="888680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auth.py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DFD03910-2896-414B-8095-12B514B0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67281" y="8860820"/>
            <a:ext cx="761725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run.py</a:t>
            </a:r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533D345D-619B-4410-ADF8-1315F31E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91289" y="2354537"/>
            <a:ext cx="507817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app/</a:t>
            </a:r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1ACFD33D-2E0B-4A5B-8E04-F9314571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7070" y="5396826"/>
            <a:ext cx="507817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css/</a:t>
            </a:r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BA0C29B7-2AB8-4813-9C6D-1B9FF6F7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8340" y="6134808"/>
            <a:ext cx="380863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js/</a:t>
            </a:r>
          </a:p>
        </p:txBody>
      </p:sp>
    </p:spTree>
    <p:extLst>
      <p:ext uri="{BB962C8B-B14F-4D97-AF65-F5344CB8AC3E}">
        <p14:creationId xmlns:p14="http://schemas.microsoft.com/office/powerpoint/2010/main" val="21143484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6AF244-B437-4B60-A6E6-CF767315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03  /  THE SHARED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0553A-7601-4B0F-85B4-C0647ECC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Game 5, in one glance.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6861A-DF1D-4134-A7EA-C37B794E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The same row is created by Client 1 and read by Client 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D64E8-FBB2-42E2-ACE2-CD186C36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D7547-F074-4D84-9D5E-6374D3DD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ACD79-D6AA-4EAB-ACB9-BDADC988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252B9-443B-4C81-8550-0551D311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6383000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BCA45-F11C-4FD8-A4C9-1A3B2795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GAME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88170-1B74-4CB9-9823-9666835B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game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510E8-D6C6-4E68-BDB6-2D486BD9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91125"/>
            <a:ext cx="1466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54B"/>
          </a:solidFill>
          <a:ln xmlns:a="http://schemas.openxmlformats.org/drawingml/2006/main" w="0">
            <a:solidFill>
              <a:srgbClr val="A9C5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3C88B-337C-426F-8572-A2974841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WHERE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6BC59-FD8B-41E7-B6C6-9C6DE632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865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padel megrine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3A4F6-5245-49E9-92A1-EEAFC88B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905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WHEN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729CA2-688B-4115-AD76-FB74DD2A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2865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2026-10-22  •  14:00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6585B-6098-4836-BD12-22336880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05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LEVEL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BE56C-08A5-49B1-A2A3-5AD1BDEC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865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Intermediate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08D76F-39F9-4471-A125-D6F77EAC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5905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PLAYERS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19010-CBCB-456D-B16F-0F939142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62865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2 / 4 after join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139C89-D0E9-4DC0-9EB0-BCC3828C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239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SQLite stores this once on the server.</a:t>
            </a:r>
          </a:p>
        </p:txBody>
      </p:sp>
    </p:spTree>
    <p:extLst>
      <p:ext uri="{BB962C8B-B14F-4D97-AF65-F5344CB8AC3E}">
        <p14:creationId xmlns:p14="http://schemas.microsoft.com/office/powerpoint/2010/main" val="106316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CCA07D-5E19-4E67-9F90-A78392F8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04  /  CREATE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D123F-9515-4EC8-9377-5C6CBFFA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Client 1 creates the game.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B1ABE-F090-4F0F-9164-13CB780E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Request on the left. Response on the right.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FFD28-EB98-4576-95B3-6DEB6F18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596D6-E26A-4C92-B74C-2F069707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E5C00-5D4D-459B-94AA-F43573E7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20007-191A-4EA2-8A32-E4266298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031D1A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DFDF1-490B-4CB3-B5D2-6F6022C7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2E8E4-30ED-4FA2-AE79-04DD6B66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POST /api/games HTTP/1.1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86ED5-D2B7-49F4-A4F7-9CD0FEB2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05375"/>
            <a:ext cx="647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Host: 192.168.54.6:8000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TCP: 192.168.54.66:61170 → :8000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Content-Type: application/json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Content-Length: 128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11615-1E0D-41EF-8460-DBDA36EE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572250"/>
            <a:ext cx="647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BFAF5"/>
                </a:solidFill>
                <a:latin typeface="Aptos"/>
                <a:ea typeface="Aptos"/>
                <a:cs typeface="Aptos"/>
              </a:rPr>
              <a:t>{"title":"game",</a:t>
            </a:r>
          </a:p>
          <a:p xmlns:a="http://schemas.openxmlformats.org/drawingml/2006/main">
            <a: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BFAF5"/>
                </a:solidFill>
                <a:latin typeface="Aptos"/>
                <a:ea typeface="Aptos"/>
                <a:cs typeface="Aptos"/>
              </a:rPr>
              <a:t> "location":"padel megrine",</a:t>
            </a:r>
          </a:p>
          <a:p xmlns:a="http://schemas.openxmlformats.org/drawingml/2006/main">
            <a: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BFAF5"/>
                </a:solidFill>
                <a:latin typeface="Aptos"/>
                <a:ea typeface="Aptos"/>
                <a:cs typeface="Aptos"/>
              </a:rPr>
              <a:t> "date":"2026-10-22", "time":"14:00",</a:t>
            </a:r>
          </a:p>
          <a:p xmlns:a="http://schemas.openxmlformats.org/drawingml/2006/main">
            <a: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BFAF5"/>
                </a:solidFill>
                <a:latin typeface="Aptos"/>
                <a:ea typeface="Aptos"/>
                <a:cs typeface="Aptos"/>
              </a:rPr>
              <a:t> "required_level":"Intermediate", "max_players":"4"}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217D0-FE33-496D-87CF-DF13A696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F80D1-EBD2-46FD-B399-EE6A341C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A9EDB-9B1F-4DE1-AA91-FF708B5B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C5AECC-85FB-43F2-AB8C-C8FABAE6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3862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HTTP/1.1 201 Created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5A34B-E1AC-44FC-B2D1-136E2F14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00062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Content-Type: application/json</a:t>
            </a:r>
          </a:p>
          <a:p xmlns:a="http://schemas.openxmlformats.org/drawingml/2006/main">
            <a: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Content-Length: 358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B456A8-044B-43CD-BB81-C0770897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48375"/>
            <a:ext cx="666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success: true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message: "Game created. You are the first participant."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data: id=5 • title="game"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location="padel megrine" • date=2026-10-22 • time=14:00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required_level=Intermediate • max_players=4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participant_count=1 • available_places=3 • status=available</a:t>
            </a:r>
          </a:p>
        </p:txBody>
      </p:sp>
    </p:spTree>
    <p:extLst>
      <p:ext uri="{BB962C8B-B14F-4D97-AF65-F5344CB8AC3E}">
        <p14:creationId xmlns:p14="http://schemas.microsoft.com/office/powerpoint/2010/main" val="3164461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820550-68BE-4A75-AE31-93A9B6F6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05  /  JOIN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23388-276D-433A-9907-0916D716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Client 2 joins the same game.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73883-D43D-4F29-9941-7F5F250A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Request on the left. Response on the right.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C438C-5D61-47FE-8275-7C28DDEE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FBE71-6F23-476F-BE44-3581FE91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1B353-0D44-4BF0-8082-5185899E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5FF53-F935-4397-B2AF-BBEBCA87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031D1A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7EFC8-1FB7-431F-B9EF-D3AF992E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4E33D-ED2E-4DD8-A7A6-2EE7B83B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POST /api/games/5/join HTTP/1.1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56948-4D77-44C1-9758-9561EDAF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05375"/>
            <a:ext cx="647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Host: 192.168.54.6:8000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TCP: 192.168.53.7:50155 → :8000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Content-Type: application/json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Content-Length: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5C356-D0BF-4EF6-95FD-FAA66F1C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572250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BFAF5"/>
                </a:solidFill>
                <a:latin typeface="Aptos"/>
                <a:ea typeface="Aptos"/>
                <a:cs typeface="Aptos"/>
              </a:rPr>
              <a:t>Origin: http://192.168.54.6:8000</a:t>
            </a:r>
          </a:p>
          <a:p xmlns:a="http://schemas.openxmlformats.org/drawingml/2006/main">
            <a: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BFAF5"/>
                </a:solidFill>
                <a:latin typeface="Aptos"/>
                <a:ea typeface="Aptos"/>
                <a:cs typeface="Aptos"/>
              </a:rPr>
              <a:t>Referer: /games/5</a:t>
            </a:r>
          </a:p>
          <a:p xmlns:a="http://schemas.openxmlformats.org/drawingml/2006/main">
            <a: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BFAF5"/>
                </a:solidFill>
                <a:latin typeface="Aptos"/>
                <a:ea typeface="Aptos"/>
                <a:cs typeface="Aptos"/>
              </a:rPr>
              <a:t>X-CSRF-Token: [redacted]</a:t>
            </a:r>
          </a:p>
          <a:p xmlns:a="http://schemas.openxmlformats.org/drawingml/2006/main">
            <a: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BFAF5"/>
                </a:solidFill>
                <a:latin typeface="Aptos"/>
                <a:ea typeface="Aptos"/>
                <a:cs typeface="Aptos"/>
              </a:rPr>
              <a:t>{}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D40FC-44A4-4DD1-B891-B385B336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2BA41-B644-4435-8417-3A6332AC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4FC8E-D51C-4B82-8608-E9774B5D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39D49-B1E2-471E-A4E2-9B0278D9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386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HTTP/1.1 200 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D7B13-5C8C-4311-B013-AF4E784B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00062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Content-Type: application/json</a:t>
            </a:r>
          </a:p>
          <a:p xmlns:a="http://schemas.openxmlformats.org/drawingml/2006/main">
            <a: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Content-Length: 334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4D41F-CC25-4C24-959B-2B58A730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48375"/>
            <a:ext cx="666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success: true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message: "You joined the game."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data: id=5 • title="game"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location="padel megrine" • date=2026-10-22 • time=14:00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required_level=Intermediate • max_players=4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participant_count=2 • available_places=2 • status=available</a:t>
            </a:r>
          </a:p>
        </p:txBody>
      </p:sp>
    </p:spTree>
    <p:extLst>
      <p:ext uri="{BB962C8B-B14F-4D97-AF65-F5344CB8AC3E}">
        <p14:creationId xmlns:p14="http://schemas.microsoft.com/office/powerpoint/2010/main" val="15952277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DCACDF-A6DD-4070-B85C-CE1E4ED6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06  / 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4E278-A586-4F7C-98D6-0A74BDAF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The HTTP types used by the project.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056F4-8719-436E-A5C2-A707A30C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Only implemented methods and observed response codes are shown here.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CAA0F-2C60-435E-A72F-285A8AD0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22C3E-8BBB-4253-B915-4EEEDC28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5DC75-4477-447D-81EC-3C8132A0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8B329-7FC0-4641-8161-81292885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762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552B0-D082-4FCB-ADC6-8A34DF1A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91E07-89E6-41DD-A1FB-7293C946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Read pages, players</a:t>
            </a:r>
          </a:p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and game details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61809-2B95-42ED-A43E-9AB62A9B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0375"/>
            <a:ext cx="2762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F2B3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05108-824F-4CAC-BF24-A9FF027A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68E0B-A9E6-4FB9-9AF5-766682B8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005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Register, login,</a:t>
            </a:r>
          </a:p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create, join, 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A10476-836C-4736-A070-765EA1C0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0375"/>
            <a:ext cx="2762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CDE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E682F-B2BC-4FCB-B008-3A57A284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33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288F4-3898-4AF1-9402-C3F5756E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005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Update the logged-in</a:t>
            </a:r>
          </a:p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player profile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9EC7C-088C-4543-B1BF-49A0B795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00375"/>
            <a:ext cx="704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E4037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16B07-12CD-45FF-9FA7-70382BAD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OBSERVED RESPONSES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1638C-5425-40F4-BC86-9051AD88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857625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200 OK   •   201 Created   •   400 Bad Request</a:t>
            </a:r>
          </a:p>
          <a:p xmlns:a="http://schemas.openxmlformats.org/drawingml/2006/main">
            <a: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401 Unauthorized   •   404 Not Found   •   409 Conflict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ACC078-66C8-42C6-A8BB-875249A9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6478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31D1A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5561F0-4E3A-4121-A619-17D2A4B2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578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GET /games/5  →  Flask view 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690B96-A66B-4738-A87E-929EA180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0"/>
            <a:ext cx="819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@bp.get("/games/&lt;int:game_id&gt;")</a:t>
            </a:r>
          </a:p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def game_detail(game_id: int):</a:t>
            </a:r>
          </a:p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    row = fetch_game(game_id)</a:t>
            </a:r>
          </a:p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    if row is None:</a:t>
            </a:r>
          </a:p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        abort(404)</a:t>
            </a:r>
          </a:p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    return render_template("game_detail.html", ...)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4CEFFE-51B1-4E1C-96FD-C68B5F18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The browser GET enters this handler, fetches the SQLite row,</a:t>
            </a:r>
          </a:p>
          <a:p xmlns:a="http://schemas.openxmlformats.org/drawingml/2006/main">
            <a: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and returns the rendered game page or a real 404.</a:t>
            </a:r>
          </a:p>
        </p:txBody>
      </p:sp>
    </p:spTree>
    <p:extLst>
      <p:ext uri="{BB962C8B-B14F-4D97-AF65-F5344CB8AC3E}">
        <p14:creationId xmlns:p14="http://schemas.microsoft.com/office/powerpoint/2010/main" val="941633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31E6C7-2254-4226-AEA2-DEE9D34C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08  /  TWO CLIENTS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BB89E-E028-431E-9CF4-7B6C6C4B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One shared game, shown twice.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F949C-240C-4D0B-885F-CCC0C452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Click a green play label during the presentation to open the trimmed recording.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DE5B5-D0D3-4784-BAC4-524B9EB8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86E8F-2F53-42ED-AE7A-3331F4A1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4B9F5-FF02-40D6-946D-728B882C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917A5-68BB-456A-BDD7-D50AA3A9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8143875" cy="5810250"/>
          </a:xfrm>
          <a:prstGeom xmlns:a="http://schemas.openxmlformats.org/drawingml/2006/main" prst="roundRect">
            <a:avLst>
              <a:gd name="adj" fmla="val 1967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55874-622C-4A22-8DF8-6149CE63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0375"/>
            <a:ext cx="8143875" cy="5810250"/>
          </a:xfrm>
          <a:prstGeom xmlns:a="http://schemas.openxmlformats.org/drawingml/2006/main" prst="roundRect">
            <a:avLst>
              <a:gd name="adj" fmla="val 1967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5B08F-6817-4FA8-BD20-CD8C5F97C2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66b2116f94f9f"/>
          <a:stretch xmlns:a="http://schemas.openxmlformats.org/drawingml/2006/main"/>
        </p:blipFill>
        <p:spPr>
          <a:xfrm xmlns:a="http://schemas.openxmlformats.org/drawingml/2006/main">
            <a:off x="1000125" y="3542660"/>
            <a:ext cx="7572375" cy="358268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B500E-AC08-48C8-AF1C-4F656BB15F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cf84a150e244d4"/>
          <a:stretch xmlns:a="http://schemas.openxmlformats.org/drawingml/2006/main"/>
        </p:blipFill>
        <p:spPr>
          <a:xfrm xmlns:a="http://schemas.openxmlformats.org/drawingml/2006/main">
            <a:off x="9715500" y="3455104"/>
            <a:ext cx="7572375" cy="3757791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8EC7F-6B80-4C96-A4D4-3B9AD7E2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676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CLIENT 1  /  CREATED + REFRESHED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27815-6A48-4E44-8270-2A0BC266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96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Participant list: 2 of 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F0DE1-E9F3-42F9-BDFB-F3BE4C3A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6676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CLIENT 2  /  FOUND + JOINED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4C15A-4BDC-4687-89BE-44D5EE22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80962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Join confirmation is visible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478A94-1BF3-4B60-BA99-46C29481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048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  <a:hlinkClick xmlns:r="http://schemas.openxmlformats.org/officeDocument/2006/relationships" r:id="Rbdc2a37e3496453d"/>
              </a:rPr>
              <a:t>▶  PLAY CLIENT 1 CLIP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D627D-BC60-4301-83A8-90420A7B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0486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  <a:hlinkClick xmlns:r="http://schemas.openxmlformats.org/officeDocument/2006/relationships" r:id="R90d67cf1c5fc4780"/>
              </a:rPr>
              <a:t>▶  PLAY CLIENT 2 CLIP</a:t>
            </a:r>
          </a:p>
        </p:txBody>
      </p:sp>
    </p:spTree>
    <p:extLst>
      <p:ext uri="{BB962C8B-B14F-4D97-AF65-F5344CB8AC3E}">
        <p14:creationId xmlns:p14="http://schemas.microsoft.com/office/powerpoint/2010/main" val="15708874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62A122-10ED-414C-98E8-FF58B3B5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09  /  WIRESHARK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ED6B8-AE3E-4BF4-9D66-67816E1D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Find one request. Read one response.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09382-B018-4C17-86C2-2E4C0567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The screenshot is the real join packet; the filter makes it easy to isolate.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C83D1-5E53-463A-9882-C242B9AA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9847F-C224-4572-A822-822584D8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B1BC0-1543-4483-B4C3-D8E1BEBF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2F0E8-160F-4D91-98E4-00571CD6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5334000" cy="5715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0E4037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EADC7-CC90-4522-8CF2-441D938A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FILTER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911CA-41C1-443C-9020-81EFDECD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4381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31D1A"/>
          </a:solidFill>
          <a:ln xmlns:a="http://schemas.openxmlformats.org/drawingml/2006/main" w="19050">
            <a:solidFill>
              <a:srgbClr val="6EA48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5F9E1-7F25-4812-A57E-EF4A1A3E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tcp.port == 8000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D0AB1E-A42D-48FB-86B5-AA96DE26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768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F2987-B186-497C-BC56-71FD7563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0550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POST /api/games/5/join</a:t>
            </a:r>
          </a:p>
          <a:p xmlns:a="http://schemas.openxmlformats.org/drawingml/2006/main">
            <a: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Client 2 →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82FA57-6106-4E54-81C3-1DBFD2C3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913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913C1-5FD2-4619-A968-B445CB0F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62000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HTTP/1.1 200 OK</a:t>
            </a:r>
          </a:p>
          <a:p xmlns:a="http://schemas.openxmlformats.org/drawingml/2006/main">
            <a: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Content-Length: 334</a:t>
            </a:r>
          </a:p>
          <a:p xmlns:a="http://schemas.openxmlformats.org/drawingml/2006/main">
            <a: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frame 1187933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D0D03-7A22-48EF-926A-8002C562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10763250" cy="5715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C22BF0-DEF4-43DB-90B6-31BF0C0FDE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0792fdc014177"/>
          <a:stretch xmlns:a="http://schemas.openxmlformats.org/drawingml/2006/main"/>
        </p:blipFill>
        <p:spPr>
          <a:xfrm xmlns:a="http://schemas.openxmlformats.org/drawingml/2006/main">
            <a:off x="6858000" y="3909125"/>
            <a:ext cx="10191750" cy="2278251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492CE-0D4B-4493-8EBF-D41E31DA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239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REQUEST  frame 1187931  •  POST /api/games/5/join  •  body: {}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20905F-B46A-4D80-8D43-015B1193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7628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RESPONSE  frame 1187933  •  200 OK  •  participant_count: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20F09D-CBD9-48E6-A689-F04E95DA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1915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Source: wiresharkpresentation.pcapng  •  session token redacted</a:t>
            </a:r>
          </a:p>
        </p:txBody>
      </p:sp>
    </p:spTree>
    <p:extLst>
      <p:ext uri="{BB962C8B-B14F-4D97-AF65-F5344CB8AC3E}">
        <p14:creationId xmlns:p14="http://schemas.microsoft.com/office/powerpoint/2010/main" val="7897004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2026-10-21T13:56:55.9570000Z</dcterms:created>
  <dcterms:modified xsi:type="dcterms:W3CDTF">2026-10-21T13:56:55.9570000Z</dcterms:modified>
</coreProperties>
</file>