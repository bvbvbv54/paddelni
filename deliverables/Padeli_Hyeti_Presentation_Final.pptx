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307996d5ac43f7" /><Relationship Type="http://schemas.openxmlformats.org/officeDocument/2006/relationships/extended-properties" Target="/docProps/app.xml" Id="R25129c06490646f3" /><Relationship Type="http://schemas.openxmlformats.org/officeDocument/2006/relationships/officeDocument" Target="/ppt/presentation.xml" Id="Rd9003a0af57144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52f45204b94a70"/>
  </p:sldMasterIdLst>
  <p:notesMasterIdLst>
    <p:notesMasterId xmlns:r="http://schemas.openxmlformats.org/officeDocument/2006/relationships" r:id="Ree5b72cd4c3d45a4"/>
  </p:notesMasterIdLst>
  <p:sldIdLst>
    <p:sldId xmlns:r="http://schemas.openxmlformats.org/officeDocument/2006/relationships" id="256" r:id="Rfbed06703f454d7c"/>
    <p:sldId xmlns:r="http://schemas.openxmlformats.org/officeDocument/2006/relationships" id="257" r:id="R1986e17e8cb44413"/>
    <p:sldId xmlns:r="http://schemas.openxmlformats.org/officeDocument/2006/relationships" id="258" r:id="Rb71663d617644e01"/>
    <p:sldId xmlns:r="http://schemas.openxmlformats.org/officeDocument/2006/relationships" id="259" r:id="R03df4c9e51a14212"/>
    <p:sldId xmlns:r="http://schemas.openxmlformats.org/officeDocument/2006/relationships" id="260" r:id="R9fcb62d7f0414af2"/>
    <p:sldId xmlns:r="http://schemas.openxmlformats.org/officeDocument/2006/relationships" id="261" r:id="R9073a2b9e0cd441f"/>
    <p:sldId xmlns:r="http://schemas.openxmlformats.org/officeDocument/2006/relationships" id="262" r:id="R99179f14ad6046c7"/>
    <p:sldId xmlns:r="http://schemas.openxmlformats.org/officeDocument/2006/relationships" id="263" r:id="R28f9bf94e5214b91"/>
    <p:sldId xmlns:r="http://schemas.openxmlformats.org/officeDocument/2006/relationships" id="264" r:id="R535b0c64026e49f7"/>
    <p:sldId xmlns:r="http://schemas.openxmlformats.org/officeDocument/2006/relationships" id="265" r:id="R752de102754e4f65"/>
    <p:sldId xmlns:r="http://schemas.openxmlformats.org/officeDocument/2006/relationships" id="266" r:id="Rc52220d488e2420f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f21dc5d4ee4de6" /><Relationship Type="http://schemas.openxmlformats.org/officeDocument/2006/relationships/slideMaster" Target="/ppt/slideMasters/slideMaster1.xml" Id="R2c52f45204b94a70" /><Relationship Type="http://schemas.openxmlformats.org/officeDocument/2006/relationships/notesMaster" Target="/ppt/notesMasters/notesMaster1.xml" Id="Ree5b72cd4c3d45a4" /><Relationship Type="http://schemas.openxmlformats.org/officeDocument/2006/relationships/presProps" Target="/ppt/presProps.xml" Id="R372cf948a8a043a9" /><Relationship Type="http://schemas.openxmlformats.org/officeDocument/2006/relationships/tableStyles" Target="/ppt/tableStyles.xml" Id="R2a2fa01591904af0" /><Relationship Type="http://schemas.openxmlformats.org/officeDocument/2006/relationships/slide" Target="/ppt/slides/slide1.xml" Id="Rfbed06703f454d7c" /><Relationship Type="http://schemas.openxmlformats.org/officeDocument/2006/relationships/slide" Target="/ppt/slides/slide2.xml" Id="R1986e17e8cb44413" /><Relationship Type="http://schemas.openxmlformats.org/officeDocument/2006/relationships/slide" Target="/ppt/slides/slide3.xml" Id="Rb71663d617644e01" /><Relationship Type="http://schemas.openxmlformats.org/officeDocument/2006/relationships/slide" Target="/ppt/slides/slide4.xml" Id="R03df4c9e51a14212" /><Relationship Type="http://schemas.openxmlformats.org/officeDocument/2006/relationships/slide" Target="/ppt/slides/slide5.xml" Id="R9fcb62d7f0414af2" /><Relationship Type="http://schemas.openxmlformats.org/officeDocument/2006/relationships/slide" Target="/ppt/slides/slide6.xml" Id="R9073a2b9e0cd441f" /><Relationship Type="http://schemas.openxmlformats.org/officeDocument/2006/relationships/slide" Target="/ppt/slides/slide7.xml" Id="R99179f14ad6046c7" /><Relationship Type="http://schemas.openxmlformats.org/officeDocument/2006/relationships/slide" Target="/ppt/slides/slide8.xml" Id="R28f9bf94e5214b91" /><Relationship Type="http://schemas.openxmlformats.org/officeDocument/2006/relationships/slide" Target="/ppt/slides/slide9.xml" Id="R535b0c64026e49f7" /><Relationship Type="http://schemas.openxmlformats.org/officeDocument/2006/relationships/slide" Target="/ppt/slides/slide10.xml" Id="R752de102754e4f65" /><Relationship Type="http://schemas.openxmlformats.org/officeDocument/2006/relationships/slide" Target="/ppt/slides/slide11.xml" Id="Rc52220d488e242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6d36eac1b04a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aa22c8966640c5" /><Relationship Type="http://schemas.openxmlformats.org/officeDocument/2006/relationships/notesMaster" Target="/ppt/notesMasters/notesMaster1.xml" Id="R063e77fa51904f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7a9eff486e40c5" /><Relationship Type="http://schemas.openxmlformats.org/officeDocument/2006/relationships/notesMaster" Target="/ppt/notesMasters/notesMaster1.xml" Id="R810c9de141b84e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c038a249074870" /><Relationship Type="http://schemas.openxmlformats.org/officeDocument/2006/relationships/notesMaster" Target="/ppt/notesMasters/notesMaster1.xml" Id="R3839f79843e141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5e9e983c1745c9" /><Relationship Type="http://schemas.openxmlformats.org/officeDocument/2006/relationships/notesMaster" Target="/ppt/notesMasters/notesMaster1.xml" Id="Re9b5f8ae6c8a43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2af78bba724bca" /><Relationship Type="http://schemas.openxmlformats.org/officeDocument/2006/relationships/notesMaster" Target="/ppt/notesMasters/notesMaster1.xml" Id="R30851f9bc6d745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b46487c64b4121" /><Relationship Type="http://schemas.openxmlformats.org/officeDocument/2006/relationships/notesMaster" Target="/ppt/notesMasters/notesMaster1.xml" Id="R48fe0b2aff4741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15d7b4c5174eaa" /><Relationship Type="http://schemas.openxmlformats.org/officeDocument/2006/relationships/notesMaster" Target="/ppt/notesMasters/notesMaster1.xml" Id="R0c9d3126995647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69ab348f534a89" /><Relationship Type="http://schemas.openxmlformats.org/officeDocument/2006/relationships/notesMaster" Target="/ppt/notesMasters/notesMaster1.xml" Id="Rd7a1ebd7e1e241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6e5ed6b62b41f6" /><Relationship Type="http://schemas.openxmlformats.org/officeDocument/2006/relationships/notesMaster" Target="/ppt/notesMasters/notesMaster1.xml" Id="R97e632febf7f43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cf544752c94abc" /><Relationship Type="http://schemas.openxmlformats.org/officeDocument/2006/relationships/notesMaster" Target="/ppt/notesMasters/notesMaster1.xml" Id="Ra7a363bdb5e346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9f74184c1634c6a" /><Relationship Type="http://schemas.openxmlformats.org/officeDocument/2006/relationships/notesMaster" Target="/ppt/notesMasters/notesMaster1.xml" Id="Rc4821a7cec7440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88047577304d9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43401385414c6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7eae2fffcb433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15ce40ed3f428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1eb14d9732412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4ec1210dab46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460431-DD7F-4982-A184-E59ADAEA8A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837462E-48F1-4A6F-B72C-F40958BE96A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BAAF753-E804-4A42-A544-03C24A53EF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328CB4-87F4-477E-B5DE-04CDB07555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D8367C5-91B5-4877-ADD9-991879240F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DE9C9CF-9CAD-4F59-9604-FE594E3359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AD75572-6970-480B-B226-BF2E3342F7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0CDD9F0-701A-4BEF-BCEF-97BC49933F6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4B8337-65D6-4E4F-9F74-B7E2B63FB0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21DB20-30D7-452F-9B02-1BEA01AC25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1f639c1b24435e" /><Relationship Type="http://schemas.openxmlformats.org/officeDocument/2006/relationships/slideLayout" Target="/ppt/slideLayouts/slideLayout1.xml" Id="Rde7a835006fd4c4a" /><Relationship Type="http://schemas.openxmlformats.org/officeDocument/2006/relationships/slideLayout" Target="/ppt/slideLayouts/slideLayout2.xml" Id="Rf747ac49f9304a00" /><Relationship Type="http://schemas.openxmlformats.org/officeDocument/2006/relationships/slideLayout" Target="/ppt/slideLayouts/slideLayout3.xml" Id="Rf4d470d973c44cde" /><Relationship Type="http://schemas.openxmlformats.org/officeDocument/2006/relationships/slideLayout" Target="/ppt/slideLayouts/slideLayout4.xml" Id="R208cc821e389478b" /><Relationship Type="http://schemas.openxmlformats.org/officeDocument/2006/relationships/slideLayout" Target="/ppt/slideLayouts/slideLayout5.xml" Id="R59b83015c5544d67" /><Relationship Type="http://schemas.openxmlformats.org/officeDocument/2006/relationships/slideLayout" Target="/ppt/slideLayouts/slideLayout6.xml" Id="R651e640c3c0941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7a835006fd4c4a"/>
    <p:sldLayoutId xmlns:r="http://schemas.openxmlformats.org/officeDocument/2006/relationships" id="2147483650" r:id="Rf747ac49f9304a00"/>
    <p:sldLayoutId xmlns:r="http://schemas.openxmlformats.org/officeDocument/2006/relationships" id="2147483651" r:id="Rf4d470d973c44cde"/>
    <p:sldLayoutId xmlns:r="http://schemas.openxmlformats.org/officeDocument/2006/relationships" id="2147483652" r:id="R208cc821e389478b"/>
    <p:sldLayoutId xmlns:r="http://schemas.openxmlformats.org/officeDocument/2006/relationships" id="2147483653" r:id="R59b83015c5544d67"/>
    <p:sldLayoutId xmlns:r="http://schemas.openxmlformats.org/officeDocument/2006/relationships" id="2147483654" r:id="R651e640c3c0941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86b7d8dc204f8e" /><Relationship Type="http://schemas.openxmlformats.org/officeDocument/2006/relationships/notesSlide" Target="/ppt/notesSlides/notesSlide1.xml" Id="R666739152a894e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9fda441de24b90" /><Relationship Type="http://schemas.openxmlformats.org/officeDocument/2006/relationships/notesSlide" Target="/ppt/notesSlides/notesSlide2.xml" Id="R5ee1874023ab47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b5a63bf53f4ce8" /><Relationship Type="http://schemas.openxmlformats.org/officeDocument/2006/relationships/notesSlide" Target="/ppt/notesSlides/notesSlide3.xml" Id="R0438b5fa936048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03cf20f82d4f9c" /><Relationship Type="http://schemas.openxmlformats.org/officeDocument/2006/relationships/notesSlide" Target="/ppt/notesSlides/notesSlide4.xml" Id="Rc1545bb1d8794e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318747c227413f" /><Relationship Type="http://schemas.openxmlformats.org/officeDocument/2006/relationships/image" Target="/ppt/media/image.png" Id="Rfe002c5c40a149f9" /><Relationship Type="http://schemas.openxmlformats.org/officeDocument/2006/relationships/notesSlide" Target="/ppt/notesSlides/notesSlide5.xml" Id="R82c2a542746a43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bafb7593e449f6" /><Relationship Type="http://schemas.openxmlformats.org/officeDocument/2006/relationships/image" Target="/ppt/media/image2.png" Id="R34e8bb50daf74b4f" /><Relationship Type="http://schemas.openxmlformats.org/officeDocument/2006/relationships/notesSlide" Target="/ppt/notesSlides/notesSlide6.xml" Id="R45b6646d960647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8d68f493244909" /><Relationship Type="http://schemas.openxmlformats.org/officeDocument/2006/relationships/notesSlide" Target="/ppt/notesSlides/notesSlide7.xml" Id="Rb020b7b0114e44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a2f33183ad408d" /><Relationship Type="http://schemas.openxmlformats.org/officeDocument/2006/relationships/image" Target="/ppt/media/image3.png" Id="Re9e67d1307014aa9" /><Relationship Type="http://schemas.openxmlformats.org/officeDocument/2006/relationships/notesSlide" Target="/ppt/notesSlides/notesSlide8.xml" Id="Rf442138ba71b43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3027a859484798" /><Relationship Type="http://schemas.openxmlformats.org/officeDocument/2006/relationships/notesSlide" Target="/ppt/notesSlides/notesSlide9.xml" Id="R6f95964aea6b4b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5be8483cb54517" /><Relationship Type="http://schemas.openxmlformats.org/officeDocument/2006/relationships/notesSlide" Target="/ppt/notesSlides/notesSlide10.xml" Id="R85b2cce9735f4f8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4f40a533f54589" /><Relationship Type="http://schemas.openxmlformats.org/officeDocument/2006/relationships/notesSlide" Target="/ppt/notesSlides/notesSlide11.xml" Id="R65bdaefc30e541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DE7412-F999-4BD5-AFDE-0484DB46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-1238250"/>
            <a:ext cx="5905500" cy="590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4037"/>
          </a:solidFill>
          <a:ln xmlns:a="http://schemas.openxmlformats.org/drawingml/2006/main" w="0">
            <a:solidFill>
              <a:srgbClr val="0E403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A2D70-1373-4C53-88CC-49349218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-952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D34B"/>
          </a:solidFill>
          <a:ln xmlns:a="http://schemas.openxmlformats.org/drawingml/2006/main" w="0">
            <a:solidFill>
              <a:srgbClr val="B8D34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CE313B-0650-41A5-AEBF-173A9176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"/>
            <a:ext cx="704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4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64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64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64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64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64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64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64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64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64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64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645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PADELI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105A7D-B0F0-48A5-B0E4-5442B935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704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4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64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64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64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64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64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64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64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64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64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64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64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HYETI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9FA23C-469F-414C-B8E1-2B904D43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90875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34B"/>
          </a:solidFill>
          <a:ln xmlns:a="http://schemas.openxmlformats.org/drawingml/2006/main" w="0">
            <a:solidFill>
              <a:srgbClr val="B8D3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A7FD3-3CED-44F2-ACBC-DFD33413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67125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24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24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24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24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24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24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24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24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24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A real two-client Flask application for finding and joining Padel games.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5E863-DDCF-4100-ABD8-688CAEF8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0096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0E4037"/>
          </a:solidFill>
          <a:ln xmlns:a="http://schemas.openxmlformats.org/drawingml/2006/main" w="19050">
            <a:solidFill>
              <a:srgbClr val="6EA48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5C1D51-C473-4C98-AED6-3D3F6342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LIVE LAN DEMO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5C20D2-EA4C-4BD1-B4C8-56DD8AFD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429375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Clients 192.168.54.66 + 192.168.53.7   →   Server 192.168.54.6:8000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ECDA57-2707-4A54-BE21-1778CB9F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57250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EC1B6"/>
                </a:solidFill>
                <a:latin typeface="Aptos"/>
                <a:ea typeface="Aptos"/>
                <a:cs typeface="Aptos"/>
              </a:rPr>
              <a:t>HTTP  •  SQLite  •  Flask  •  Wireshark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8D9348-51B6-48C1-9372-796CC129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04875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38632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A45CBB-C3D9-42D4-8FE0-46E592C0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01  / 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9CFDE9-CC0E-4ED6-A63B-168F67F4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60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One server. Two browsers. One shared state.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57E823-CA00-4F6D-B807-8A7D79A6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476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CDE4D8"/>
                </a:solidFill>
                <a:latin typeface="Aptos"/>
                <a:ea typeface="Aptos"/>
                <a:cs typeface="Aptos"/>
              </a:rPr>
              <a:t>Every action travels as an HTTP request to the same Flask process and SQLite database.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6B4E0B-812D-48AB-A98E-66165B4F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695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48D"/>
          </a:solidFill>
          <a:ln xmlns:a="http://schemas.openxmlformats.org/drawingml/2006/main" w="0">
            <a:solidFill>
              <a:srgbClr val="6EA4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419470-D0FD-43B6-AAD9-C37860DB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C1B6"/>
                </a:solidFill>
                <a:latin typeface="Aptos"/>
                <a:ea typeface="Aptos"/>
                <a:cs typeface="Aptos"/>
              </a:rPr>
              <a:t>PADELI HYETI  /  COMPUTER NETWORKS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D596E-83AC-42A8-809E-382505D7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677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5D38C7-152E-4890-8A59-43DC30B2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4762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B7804D-3CAC-472D-87D2-3CC2A655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381375"/>
            <a:ext cx="4762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E67172-00FD-40DF-879B-D33681C0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514350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0E4037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B75B1A-CF56-482E-9442-F79AE635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905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CLIENT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8B9890-D84D-49DF-9E08-DEABEE1E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47675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192.168.54.66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0044E7-334F-4604-B924-AFA97248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334000"/>
            <a:ext cx="361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Creates Game 5</a:t>
            </a:r>
          </a:p>
          <a:p xmlns:a="http://schemas.openxmlformats.org/drawingml/2006/main">
            <a: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Organizer session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8586C8-2C58-4D03-9AC4-8ABC43DA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3905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CLIENT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A52A51-4B8A-4247-BE67-F67A49E8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47675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192.168.53.7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6F9A7E-2E2E-4138-AB4F-CBC23B0F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5334000"/>
            <a:ext cx="361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Discovers Game 5</a:t>
            </a:r>
          </a:p>
          <a:p xmlns:a="http://schemas.openxmlformats.org/drawingml/2006/main">
            <a: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Joins the session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5FBA55-D6AF-48FA-9B41-9C0085FB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766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FLASK SERVER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4D708D-3588-45EA-8808-E305F2B3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005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25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25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25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25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25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25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25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25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25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192.168.54.6:8000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A04C38-C18F-419E-B159-E71A78A0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006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80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80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80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80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80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80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80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80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80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CDE4D8"/>
                </a:solidFill>
                <a:latin typeface="Aptos"/>
                <a:ea typeface="Aptos"/>
                <a:cs typeface="Aptos"/>
              </a:rPr>
              <a:t>Routes  •  Sessions  •  Validation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7B571C-FCA8-429C-9954-90925A65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72125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48D"/>
          </a:solidFill>
          <a:ln xmlns:a="http://schemas.openxmlformats.org/drawingml/2006/main" w="0">
            <a:solidFill>
              <a:srgbClr val="6EA48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F3F1CA-4D0A-4AE5-829E-53EAF8EE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53125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19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19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19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19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19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19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19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19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19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SQLite database</a:t>
            </a:r>
          </a:p>
          <a:p xmlns:a="http://schemas.openxmlformats.org/drawingml/2006/main">
            <a:pPr>
              <a:defRPr sz="19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created once on the server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86F56E-AE4D-49EC-8025-09489B5F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4767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HTTP request  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A67E4C-861C-40AC-AEC9-203EC421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44767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←  HTTP response</a:t>
            </a:r>
          </a:p>
        </p:txBody>
      </p:sp>
    </p:spTree>
    <p:extLst>
      <p:ext uri="{BB962C8B-B14F-4D97-AF65-F5344CB8AC3E}">
        <p14:creationId xmlns:p14="http://schemas.microsoft.com/office/powerpoint/2010/main" val="12150850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0A64C4-5537-4456-89F5-1B209850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02  /  USER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8EF64C-B0BE-4B8C-8D15-871FB459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60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The live workflow in four moves.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856BBE-381A-4DFE-98B9-2D9A40EC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476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CDE4D8"/>
                </a:solidFill>
                <a:latin typeface="Aptos"/>
                <a:ea typeface="Aptos"/>
                <a:cs typeface="Aptos"/>
              </a:rPr>
              <a:t>The same workflow is visible in the browser, the server log, and the packet capture.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3D024-024B-4A88-BB11-C461A772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695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48D"/>
          </a:solidFill>
          <a:ln xmlns:a="http://schemas.openxmlformats.org/drawingml/2006/main" w="0">
            <a:solidFill>
              <a:srgbClr val="6EA4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B8EEEF-E541-469D-B36C-206E7E74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C1B6"/>
                </a:solidFill>
                <a:latin typeface="Aptos"/>
                <a:ea typeface="Aptos"/>
                <a:cs typeface="Aptos"/>
              </a:rPr>
              <a:t>PADELI HYETI  /  COMPUTER NETWORKS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5FE03E-D9AA-4470-A98F-10BAB008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677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1EF61-C5C4-45EA-9C94-88167491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37147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597CBA-66D3-4D3F-A8C4-ACC3F766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338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4037"/>
          </a:solidFill>
          <a:ln xmlns:a="http://schemas.openxmlformats.org/drawingml/2006/main" w="0">
            <a:solidFill>
              <a:srgbClr val="0E403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B43F1F-A413-4687-9786-12C4AF50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05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AE8E0F-E0C7-441C-8E8F-10586870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577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REGISTER + LOGIN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401BA5-E3E8-4897-8826-3AEA4816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619750"/>
            <a:ext cx="3000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Each browser starts its own session.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281874-1B93-40DC-BF6A-A9F03A22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81012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E129FA-9A82-4A90-AB32-57A1F85C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81375"/>
            <a:ext cx="37147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3ABC36-867E-4C1C-9000-A0FDB7B7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7338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4037"/>
          </a:solidFill>
          <a:ln xmlns:a="http://schemas.openxmlformats.org/drawingml/2006/main" w="0">
            <a:solidFill>
              <a:srgbClr val="0E403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7F3777-25CF-4A70-93EA-0834ED7A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05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9F3102-176A-4B78-8D4A-9A59D21A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8577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CREATE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9DA269-7530-4654-BEB2-93D36C88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619750"/>
            <a:ext cx="3000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Client 1 creates a real game row.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2296AA-6BC2-4202-885D-0CD1DF3B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81012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C4A39A-0567-4BE1-BDFB-DC7CB6B1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81375"/>
            <a:ext cx="37147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B8D34B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4B10E2-1A51-4827-863A-F40BB79D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7338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3A33"/>
          </a:solidFill>
          <a:ln xmlns:a="http://schemas.openxmlformats.org/drawingml/2006/main" w="0">
            <a:solidFill>
              <a:srgbClr val="133A3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61AB1E-A1B9-4E35-9E9C-93838AF0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905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C1341B-58CB-44CE-B041-36B4BEEE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8577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JOIN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D50A7A-9D5B-4EF5-8684-A309C51D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619750"/>
            <a:ext cx="3000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Client 2 joins through the API.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E56798-089D-4083-B0EE-D853D5F0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481012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40EFD1-4D8B-4BC1-B7CC-D289776A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3381375"/>
            <a:ext cx="37147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116644-CBEF-424B-B07D-55A6D21C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37338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4037"/>
          </a:solidFill>
          <a:ln xmlns:a="http://schemas.openxmlformats.org/drawingml/2006/main" w="0">
            <a:solidFill>
              <a:srgbClr val="0E403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5F1065-8DB0-4492-9EE4-F0450FC2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3905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04D977-8AC5-4573-9DBF-512D5364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48577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F73B02-1D15-4C98-B791-DB3B4AB1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5619750"/>
            <a:ext cx="3000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Organizer sees 2 of 4 participants.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96238B-8B74-4654-91AE-3BA3003F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01000"/>
            <a:ext cx="1333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9EC1B6"/>
                </a:solidFill>
                <a:latin typeface="Aptos"/>
                <a:ea typeface="Aptos"/>
                <a:cs typeface="Aptos"/>
              </a:defRPr>
            </a:defPPr>
            <a:lvl1pPr>
              <a:defRPr sz="1500">
                <a:solidFill>
                  <a:srgbClr val="9EC1B6"/>
                </a:solidFill>
                <a:latin typeface="Aptos"/>
                <a:ea typeface="Aptos"/>
                <a:cs typeface="Aptos"/>
              </a:defRPr>
            </a:lvl1pPr>
            <a:lvl2pPr>
              <a:defRPr sz="1500">
                <a:solidFill>
                  <a:srgbClr val="9EC1B6"/>
                </a:solidFill>
                <a:latin typeface="Aptos"/>
                <a:ea typeface="Aptos"/>
                <a:cs typeface="Aptos"/>
              </a:defRPr>
            </a:lvl2pPr>
            <a:lvl3pPr>
              <a:defRPr sz="1500">
                <a:solidFill>
                  <a:srgbClr val="9EC1B6"/>
                </a:solidFill>
                <a:latin typeface="Aptos"/>
                <a:ea typeface="Aptos"/>
                <a:cs typeface="Aptos"/>
              </a:defRPr>
            </a:lvl3pPr>
            <a:lvl4pPr>
              <a:defRPr sz="1500">
                <a:solidFill>
                  <a:srgbClr val="9EC1B6"/>
                </a:solidFill>
                <a:latin typeface="Aptos"/>
                <a:ea typeface="Aptos"/>
                <a:cs typeface="Aptos"/>
              </a:defRPr>
            </a:lvl4pPr>
            <a:lvl5pPr>
              <a:defRPr sz="1500">
                <a:solidFill>
                  <a:srgbClr val="9EC1B6"/>
                </a:solidFill>
                <a:latin typeface="Aptos"/>
                <a:ea typeface="Aptos"/>
                <a:cs typeface="Aptos"/>
              </a:defRPr>
            </a:lvl5pPr>
            <a:lvl6pPr>
              <a:defRPr sz="1500">
                <a:solidFill>
                  <a:srgbClr val="9EC1B6"/>
                </a:solidFill>
                <a:latin typeface="Aptos"/>
                <a:ea typeface="Aptos"/>
                <a:cs typeface="Aptos"/>
              </a:defRPr>
            </a:lvl6pPr>
            <a:lvl7pPr>
              <a:defRPr sz="1500">
                <a:solidFill>
                  <a:srgbClr val="9EC1B6"/>
                </a:solidFill>
                <a:latin typeface="Aptos"/>
                <a:ea typeface="Aptos"/>
                <a:cs typeface="Aptos"/>
              </a:defRPr>
            </a:lvl7pPr>
            <a:lvl8pPr>
              <a:defRPr sz="1500">
                <a:solidFill>
                  <a:srgbClr val="9EC1B6"/>
                </a:solidFill>
                <a:latin typeface="Aptos"/>
                <a:ea typeface="Aptos"/>
                <a:cs typeface="Aptos"/>
              </a:defRPr>
            </a:lvl8pPr>
            <a:lvl9pPr>
              <a:defRPr sz="1500">
                <a:solidFill>
                  <a:srgbClr val="9EC1B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>
                <a:solidFill>
                  <a:srgbClr val="9EC1B6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EC1B6"/>
                </a:solidFill>
                <a:latin typeface="Aptos"/>
                <a:ea typeface="Aptos"/>
                <a:cs typeface="Aptos"/>
              </a:rPr>
              <a:t>Evidence used in this deck: two browser recordings + wiresharkpresentation.pcapng</a:t>
            </a:r>
          </a:p>
        </p:txBody>
      </p:sp>
    </p:spTree>
    <p:extLst>
      <p:ext uri="{BB962C8B-B14F-4D97-AF65-F5344CB8AC3E}">
        <p14:creationId xmlns:p14="http://schemas.microsoft.com/office/powerpoint/2010/main" val="3315217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A0EC7C-061C-4319-A6DB-599C8F24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03  /  THE TEST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3251C-64B4-4852-81AD-EF195A88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60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Game 5 is the shared database row.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C9D2DC-A493-4AB0-9258-1DE6CC28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476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CDE4D8"/>
                </a:solidFill>
                <a:latin typeface="Aptos"/>
                <a:ea typeface="Aptos"/>
                <a:cs typeface="Aptos"/>
              </a:rPr>
              <a:t>These values are taken from the captured POST /api/games request.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C21601-70F2-4F08-8022-964208B1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695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48D"/>
          </a:solidFill>
          <a:ln xmlns:a="http://schemas.openxmlformats.org/drawingml/2006/main" w="0">
            <a:solidFill>
              <a:srgbClr val="6EA4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283BED-BF19-4B46-9B3C-2F22BE31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C1B6"/>
                </a:solidFill>
                <a:latin typeface="Aptos"/>
                <a:ea typeface="Aptos"/>
                <a:cs typeface="Aptos"/>
              </a:rPr>
              <a:t>PADELI HYETI  /  COMPUTER NETWORKS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0992B5-0F94-4079-9F01-69C10FD2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677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8DBFDB-8B52-4C0C-90DA-B4F28F80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9906000" cy="5143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830034-B866-4013-916E-15D3A077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571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GAME 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52458B-E28B-4DD0-90C6-3481CEB9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95750"/>
            <a:ext cx="666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4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4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4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4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4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4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4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4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4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game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BD6FDF-6E9D-4FD0-B39F-AAA152D6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95875"/>
            <a:ext cx="781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54B"/>
          </a:solidFill>
          <a:ln xmlns:a="http://schemas.openxmlformats.org/drawingml/2006/main" w="0">
            <a:solidFill>
              <a:srgbClr val="A9C5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195F38-ECD1-42A1-BB66-81429DE7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619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LOCATION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B305C7-9A61-402C-A1B4-B73CE665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90550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padel megrine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94D8C0-0927-44D4-A640-44E9FC22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619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7CE505-F5E4-42D6-A238-65199E95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90550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2026-10-22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57D37B-2747-4291-8887-5B14B19B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7151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1ACD8C-2242-4547-87A9-2D06E74A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0008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14:00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FA2251-2BC2-48B6-8A30-CA89A3B2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7151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LEVEL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2ECA33-FA39-4E88-868D-3B6683B9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70008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Intermediate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7E6749-7562-4F78-B140-74153905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048000"/>
            <a:ext cx="5715000" cy="5143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0E4037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C940E2-A488-49F1-B94A-A413F47D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6195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WHY THIS MATTERS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920D60-F424-4CE7-9B49-2F7322D0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28625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23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23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23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23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23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23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23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23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23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The creator is inserted as participant #1 automatically.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AE127D-E34B-4D11-99D7-E3DD6E94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5721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48D"/>
          </a:solidFill>
          <a:ln xmlns:a="http://schemas.openxmlformats.org/drawingml/2006/main" w="0">
            <a:solidFill>
              <a:srgbClr val="6EA48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AD9C16-7EE9-448E-B7BD-1FD3C7B7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6048375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21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21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21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21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21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21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21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21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21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Capacity: 4</a:t>
            </a:r>
          </a:p>
          <a:p xmlns:a="http://schemas.openxmlformats.org/drawingml/2006/main">
            <a:pPr>
              <a:defRPr sz="21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After Client 2 joins: 2 / 4</a:t>
            </a:r>
          </a:p>
        </p:txBody>
      </p:sp>
    </p:spTree>
    <p:extLst>
      <p:ext uri="{BB962C8B-B14F-4D97-AF65-F5344CB8AC3E}">
        <p14:creationId xmlns:p14="http://schemas.microsoft.com/office/powerpoint/2010/main" val="13454942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C2CEF5-13BF-46FE-8849-057E1707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04  /  BROWSER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7CD3F0-9463-4898-80B2-5174857F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60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Client 2 joins the open game.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B3F1F8-0BCC-402E-8254-E65C7A71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476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CDE4D8"/>
                </a:solidFill>
                <a:latin typeface="Aptos"/>
                <a:ea typeface="Aptos"/>
                <a:cs typeface="Aptos"/>
              </a:rPr>
              <a:t>This frame is extracted from the Edge recording used in the live test.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FAED6-EDF8-4099-BFE2-4F18226D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695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48D"/>
          </a:solidFill>
          <a:ln xmlns:a="http://schemas.openxmlformats.org/drawingml/2006/main" w="0">
            <a:solidFill>
              <a:srgbClr val="6EA4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48DFD-5FA2-4F6E-9CD7-603BC154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C1B6"/>
                </a:solidFill>
                <a:latin typeface="Aptos"/>
                <a:ea typeface="Aptos"/>
                <a:cs typeface="Aptos"/>
              </a:rPr>
              <a:t>PADELI HYETI  /  COMPUTER NETWORKS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9B2212-E4D9-4C81-ACEA-FE64122D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677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EE7AED-22BF-4166-9867-A85BAA92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095375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AA66FB-DD26-4F5E-9ED3-CE6FA28E56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002c5c40a149f9"/>
          <a:stretch xmlns:a="http://schemas.openxmlformats.org/drawingml/2006/main"/>
        </p:blipFill>
        <p:spPr>
          <a:xfrm xmlns:a="http://schemas.openxmlformats.org/drawingml/2006/main">
            <a:off x="1000125" y="3258145"/>
            <a:ext cx="10477500" cy="5199459"/>
          </a:xfrm>
          <a:prstGeom xmlns:a="http://schemas.openxmlformats.org/drawingml/2006/main" prst="roundRect">
            <a:avLst>
              <a:gd name="adj" fmla="val 2105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1F64D2-A287-4134-A83C-8B29294E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857500"/>
            <a:ext cx="4953000" cy="619125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0E4037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D2302A-0B5C-4CDF-9EEB-E00CCF68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4766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CLIENT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25F067-BEA0-4DFE-988E-5EBA19ED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40957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Join succeeded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EEA95B-CCF6-4B13-9842-55FCCEF1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5095875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20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20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20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20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20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20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20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20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20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The browser received the server response and displayed the shared game.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399694-8D8A-4518-8F8E-081A5E99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66675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48D"/>
          </a:solidFill>
          <a:ln xmlns:a="http://schemas.openxmlformats.org/drawingml/2006/main" w="0">
            <a:solidFill>
              <a:srgbClr val="6EA48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722BFF-39A3-4DA0-BDF7-B39D91FA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143750"/>
            <a:ext cx="361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POST /api/games/5/join</a:t>
            </a:r>
          </a:p>
          <a:p xmlns:a="http://schemas.openxmlformats.org/drawingml/2006/main">
            <a:pPr>
              <a:defRPr sz="21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HTTP 200 OK</a:t>
            </a:r>
          </a:p>
        </p:txBody>
      </p:sp>
    </p:spTree>
    <p:extLst>
      <p:ext uri="{BB962C8B-B14F-4D97-AF65-F5344CB8AC3E}">
        <p14:creationId xmlns:p14="http://schemas.microsoft.com/office/powerpoint/2010/main" val="8822873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6A556C-D0CC-4FC0-B079-C8BC599B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05  /  SHARED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81F6A6-8130-4E89-9070-29382440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60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The organizer sees the second player.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F85401-6F7D-488F-AA51-8262F85B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476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CDE4D8"/>
                </a:solidFill>
                <a:latin typeface="Aptos"/>
                <a:ea typeface="Aptos"/>
                <a:cs typeface="Aptos"/>
              </a:rPr>
              <a:t>The second browser changed the database; the first browser reads that same state back.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C22CA-3683-4EFA-916F-EB6B94C5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695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48D"/>
          </a:solidFill>
          <a:ln xmlns:a="http://schemas.openxmlformats.org/drawingml/2006/main" w="0">
            <a:solidFill>
              <a:srgbClr val="6EA4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25642-5609-4419-BF9F-1446755C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C1B6"/>
                </a:solidFill>
                <a:latin typeface="Aptos"/>
                <a:ea typeface="Aptos"/>
                <a:cs typeface="Aptos"/>
              </a:rPr>
              <a:t>PADELI HYETI  /  COMPUTER NETWORKS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2B078A-6C91-48F2-ADA8-C5ED980F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677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F7DB2E-C652-472E-A9C6-2FD60AF8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095375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B5254-2E6C-476B-9768-33FA4E5269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e8bb50daf74b4f"/>
          <a:stretch xmlns:a="http://schemas.openxmlformats.org/drawingml/2006/main"/>
        </p:blipFill>
        <p:spPr>
          <a:xfrm xmlns:a="http://schemas.openxmlformats.org/drawingml/2006/main">
            <a:off x="1000125" y="3379291"/>
            <a:ext cx="10477500" cy="4957167"/>
          </a:xfrm>
          <a:prstGeom xmlns:a="http://schemas.openxmlformats.org/drawingml/2006/main" prst="roundRect">
            <a:avLst>
              <a:gd name="adj" fmla="val 2105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AFE061-74B3-4307-B370-F374479A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857500"/>
            <a:ext cx="4953000" cy="619125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0E4037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73EB1F-0079-469C-A299-88CCD853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4766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CLIENT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F44EF2-1E1D-4FCC-9B9F-37E4BCCB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4095750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2 of 4 players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C447F5-5936-4439-AC7B-F9A90FE6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5095875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20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20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20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20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20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20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20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20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20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Organizer refresh confirms both names in the participant list.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0B4F7F-F05E-4FC9-A2F8-5667C2F0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66675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48D"/>
          </a:solidFill>
          <a:ln xmlns:a="http://schemas.openxmlformats.org/drawingml/2006/main" w="0">
            <a:solidFill>
              <a:srgbClr val="6EA48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480BF2-41DE-43BE-A6C9-2D38D51F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143750"/>
            <a:ext cx="361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GET /games/5</a:t>
            </a:r>
          </a:p>
          <a:p xmlns:a="http://schemas.openxmlformats.org/drawingml/2006/main">
            <a:pPr>
              <a:defRPr sz="21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HTTP 200 OK</a:t>
            </a:r>
          </a:p>
        </p:txBody>
      </p:sp>
    </p:spTree>
    <p:extLst>
      <p:ext uri="{BB962C8B-B14F-4D97-AF65-F5344CB8AC3E}">
        <p14:creationId xmlns:p14="http://schemas.microsoft.com/office/powerpoint/2010/main" val="14242056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C92C83-4D76-4736-A139-9986E22D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06  /  HTTP TRACE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4B7CF-1D9B-42B1-8072-36B2A305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60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Create → join → refresh.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DCE526-DE0B-4F9A-9BB1-2A0733BB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476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CDE4D8"/>
                </a:solidFill>
                <a:latin typeface="Aptos"/>
                <a:ea typeface="Aptos"/>
                <a:cs typeface="Aptos"/>
              </a:rPr>
              <a:t>The PCAP gives us a short, explainable story instead of a wall of packets.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18C2D-EBC2-431E-8280-59C3C753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695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48D"/>
          </a:solidFill>
          <a:ln xmlns:a="http://schemas.openxmlformats.org/drawingml/2006/main" w="0">
            <a:solidFill>
              <a:srgbClr val="6EA4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C8C0F-B80E-4FE3-BE2A-B2C238DE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C1B6"/>
                </a:solidFill>
                <a:latin typeface="Aptos"/>
                <a:ea typeface="Aptos"/>
                <a:cs typeface="Aptos"/>
              </a:rPr>
              <a:t>PADELI HYETI  /  COMPUTER NETWORKS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A38C6A-AED3-4E42-A150-3A594AE7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677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9E9532-26C0-4814-B857-B61E19F8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16383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131011-B7EC-468F-9815-E0680D34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909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4037"/>
          </a:solidFill>
          <a:ln xmlns:a="http://schemas.openxmlformats.org/drawingml/2006/main" w="0">
            <a:solidFill>
              <a:srgbClr val="0E403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E273C2-8F50-46E5-B79E-32C729F3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81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4B01A2-0FFA-453C-A5B4-475BCD99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147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POST /api/games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B436AD-3405-4872-BB7A-7677D088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192.168.54.66 → 192.168.54.6:8000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8BA961-22BF-4894-814E-3164352D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35433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201  CREATED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502476-9CD9-4A07-9655-F6914716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16383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F2B3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A26D3B-81A6-416B-B825-4F10697B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530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4037"/>
          </a:solidFill>
          <a:ln xmlns:a="http://schemas.openxmlformats.org/drawingml/2006/main" w="0">
            <a:solidFill>
              <a:srgbClr val="0E403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3A2847-47AE-4EFE-B893-AE6A7EC2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435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CD05EF-15BF-4685-B053-C043CFA2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7682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POST /api/games/5/join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3F1B76-70DF-44F7-AB03-77131FD8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7212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192.168.53.7 → 192.168.54.6:8000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481960-04B1-481A-B0BC-966F8951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530542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200  OK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863A92-E7CE-49C0-A9BE-30803A88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572250"/>
            <a:ext cx="16383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CDE4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1DCE68-5C6A-493A-9B49-6C3A79BE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9151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4037"/>
          </a:solidFill>
          <a:ln xmlns:a="http://schemas.openxmlformats.org/drawingml/2006/main" w="0">
            <a:solidFill>
              <a:srgbClr val="0E403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81C075-0CF4-44C6-9B9D-D17FB048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1056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857C8C-8671-4797-AA97-D3C41025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8389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GET /games/5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BEB0F2-24C0-4E2E-9F93-B787FC5E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73342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Organizer reads the updated participant list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DDFB58-3B2C-413D-9C78-E4C431D1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0675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200  OK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C6B589-20BF-4F90-93EC-6E623565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72500"/>
            <a:ext cx="1381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9EC1B6"/>
                </a:solidFill>
                <a:latin typeface="Aptos"/>
                <a:ea typeface="Aptos"/>
                <a:cs typeface="Aptos"/>
              </a:defRPr>
            </a:defPPr>
            <a:lvl1pPr>
              <a:defRPr sz="1350">
                <a:solidFill>
                  <a:srgbClr val="9EC1B6"/>
                </a:solidFill>
                <a:latin typeface="Aptos"/>
                <a:ea typeface="Aptos"/>
                <a:cs typeface="Aptos"/>
              </a:defRPr>
            </a:lvl1pPr>
            <a:lvl2pPr>
              <a:defRPr sz="1350">
                <a:solidFill>
                  <a:srgbClr val="9EC1B6"/>
                </a:solidFill>
                <a:latin typeface="Aptos"/>
                <a:ea typeface="Aptos"/>
                <a:cs typeface="Aptos"/>
              </a:defRPr>
            </a:lvl2pPr>
            <a:lvl3pPr>
              <a:defRPr sz="1350">
                <a:solidFill>
                  <a:srgbClr val="9EC1B6"/>
                </a:solidFill>
                <a:latin typeface="Aptos"/>
                <a:ea typeface="Aptos"/>
                <a:cs typeface="Aptos"/>
              </a:defRPr>
            </a:lvl3pPr>
            <a:lvl4pPr>
              <a:defRPr sz="1350">
                <a:solidFill>
                  <a:srgbClr val="9EC1B6"/>
                </a:solidFill>
                <a:latin typeface="Aptos"/>
                <a:ea typeface="Aptos"/>
                <a:cs typeface="Aptos"/>
              </a:defRPr>
            </a:lvl4pPr>
            <a:lvl5pPr>
              <a:defRPr sz="1350">
                <a:solidFill>
                  <a:srgbClr val="9EC1B6"/>
                </a:solidFill>
                <a:latin typeface="Aptos"/>
                <a:ea typeface="Aptos"/>
                <a:cs typeface="Aptos"/>
              </a:defRPr>
            </a:lvl5pPr>
            <a:lvl6pPr>
              <a:defRPr sz="1350">
                <a:solidFill>
                  <a:srgbClr val="9EC1B6"/>
                </a:solidFill>
                <a:latin typeface="Aptos"/>
                <a:ea typeface="Aptos"/>
                <a:cs typeface="Aptos"/>
              </a:defRPr>
            </a:lvl6pPr>
            <a:lvl7pPr>
              <a:defRPr sz="1350">
                <a:solidFill>
                  <a:srgbClr val="9EC1B6"/>
                </a:solidFill>
                <a:latin typeface="Aptos"/>
                <a:ea typeface="Aptos"/>
                <a:cs typeface="Aptos"/>
              </a:defRPr>
            </a:lvl7pPr>
            <a:lvl8pPr>
              <a:defRPr sz="1350">
                <a:solidFill>
                  <a:srgbClr val="9EC1B6"/>
                </a:solidFill>
                <a:latin typeface="Aptos"/>
                <a:ea typeface="Aptos"/>
                <a:cs typeface="Aptos"/>
              </a:defRPr>
            </a:lvl8pPr>
            <a:lvl9pPr>
              <a:defRPr sz="1350">
                <a:solidFill>
                  <a:srgbClr val="9EC1B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>
                <a:solidFill>
                  <a:srgbClr val="9EC1B6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9EC1B6"/>
                </a:solidFill>
                <a:latin typeface="Aptos"/>
                <a:ea typeface="Aptos"/>
                <a:cs typeface="Aptos"/>
              </a:rPr>
              <a:t>Frames: create 1181873 → 1181903   •   join 1187931 → 1187933   •   refresh 1189240</a:t>
            </a:r>
          </a:p>
        </p:txBody>
      </p:sp>
    </p:spTree>
    <p:extLst>
      <p:ext uri="{BB962C8B-B14F-4D97-AF65-F5344CB8AC3E}">
        <p14:creationId xmlns:p14="http://schemas.microsoft.com/office/powerpoint/2010/main" val="11544912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F29442-D4FE-4113-B570-B3EEF6F8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07  /  WIRESHARK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3F84A-2BAF-4C46-8BFF-551D2F1B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60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Filter the evidence down to one request.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1875AF-B85E-4353-B0C3-238B4134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476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CDE4D8"/>
                </a:solidFill>
                <a:latin typeface="Aptos"/>
                <a:ea typeface="Aptos"/>
                <a:cs typeface="Aptos"/>
              </a:rPr>
              <a:t>Use the filter first; then click the HTTP row to inspect the request line and response.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FBC6D-8AC3-4386-8A01-003C393A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695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48D"/>
          </a:solidFill>
          <a:ln xmlns:a="http://schemas.openxmlformats.org/drawingml/2006/main" w="0">
            <a:solidFill>
              <a:srgbClr val="6EA4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B1B823-4B09-43EC-8574-572DA95B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C1B6"/>
                </a:solidFill>
                <a:latin typeface="Aptos"/>
                <a:ea typeface="Aptos"/>
                <a:cs typeface="Aptos"/>
              </a:rPr>
              <a:t>PADELI HYETI  /  COMPUTER NETWORKS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614139-28B0-4B08-9AEC-55BD4DC2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677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FC6F5B-7F0F-4389-93F7-7B376B17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05125"/>
            <a:ext cx="7239000" cy="5762625"/>
          </a:xfrm>
          <a:prstGeom xmlns:a="http://schemas.openxmlformats.org/drawingml/2006/main" prst="roundRect">
            <a:avLst>
              <a:gd name="adj" fmla="val 1983"/>
            </a:avLst>
          </a:prstGeom>
          <a:solidFill xmlns:a="http://schemas.openxmlformats.org/drawingml/2006/main">
            <a:srgbClr val="0E4037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457D48-5F29-497E-857C-D2E638F3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290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DISPLAY FILTER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B11CDC-462C-4056-B024-AFB92A54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00500"/>
            <a:ext cx="6286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31D1A"/>
          </a:solidFill>
          <a:ln xmlns:a="http://schemas.openxmlformats.org/drawingml/2006/main" w="19050">
            <a:solidFill>
              <a:srgbClr val="6EA48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99F3F7-FD8D-43AA-B557-B9B71CD0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38625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tcp.port == 8000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D82EF5-8346-41F5-AA55-605ED6C6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429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For the join only: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E8D500-6D0B-4E5E-8467-DDE9EAA0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905500"/>
            <a:ext cx="623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ip.src == 192.168.53.7 &amp;&amp;</a:t>
            </a:r>
          </a:p>
          <a:p xmlns:a="http://schemas.openxmlformats.org/drawingml/2006/main">
            <a:pPr>
              <a:defRPr sz="18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http.request.uri == "/api/games/5/join"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BCEE39-3BB6-4133-B454-6A973F77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5247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Expected result: POST request → 200 OK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822380-D295-43BD-A964-9C8AD5DB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05125"/>
            <a:ext cx="8763000" cy="5762625"/>
          </a:xfrm>
          <a:prstGeom xmlns:a="http://schemas.openxmlformats.org/drawingml/2006/main" prst="roundRect">
            <a:avLst>
              <a:gd name="adj" fmla="val 1983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E3BB93-86F4-43BB-BB22-76836B0C6B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e67d1307014aa9"/>
          <a:stretch xmlns:a="http://schemas.openxmlformats.org/drawingml/2006/main"/>
        </p:blipFill>
        <p:spPr>
          <a:xfrm xmlns:a="http://schemas.openxmlformats.org/drawingml/2006/main">
            <a:off x="8858250" y="3846941"/>
            <a:ext cx="8191500" cy="1831117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E840CE-6BD1-4963-A0F6-D4637051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8580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Real source: wiresharkpresentation.pcapng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350577-F69C-4A9B-A10F-05D587F4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381875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The screenshot keeps the packet view authentic while the session-cookie area is redacted.</a:t>
            </a:r>
          </a:p>
        </p:txBody>
      </p:sp>
    </p:spTree>
    <p:extLst>
      <p:ext uri="{BB962C8B-B14F-4D97-AF65-F5344CB8AC3E}">
        <p14:creationId xmlns:p14="http://schemas.microsoft.com/office/powerpoint/2010/main" val="950098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D29C53-5247-4ED2-ABE2-8B45D172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08  /  OPTIONAL BONUS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4FE0F-73FE-462D-AD91-4D1DB971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60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QUERY: a real non-standard HTTP method.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60377B-847F-48DE-AF02-7060CE7D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476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CDE4D8"/>
                </a:solidFill>
                <a:latin typeface="Aptos"/>
                <a:ea typeface="Aptos"/>
                <a:cs typeface="Aptos"/>
              </a:rPr>
              <a:t>The endpoint is read-only and returns the same public game catalogue as GET /api/games.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31CA4-6EC5-467C-A055-AB711C91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695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48D"/>
          </a:solidFill>
          <a:ln xmlns:a="http://schemas.openxmlformats.org/drawingml/2006/main" w="0">
            <a:solidFill>
              <a:srgbClr val="6EA4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C8376B-EA23-4CE2-94F6-839A7C10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C1B6"/>
                </a:solidFill>
                <a:latin typeface="Aptos"/>
                <a:ea typeface="Aptos"/>
                <a:cs typeface="Aptos"/>
              </a:rPr>
              <a:t>PADELI HYETI  /  COMPUTER NETWORKS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7975A-DFF5-4A19-940E-8B9644F8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677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DBFFB9-7394-4574-9CB3-5321CB85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8572500" cy="49530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031D1A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1471C-F928-44D5-9C4F-353DFA86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195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POWERSHELL / CURL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358966-5A48-46D0-BB2B-5D8B165E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8150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curl.exe -X QUERY</a:t>
            </a:r>
          </a:p>
          <a:p xmlns:a="http://schemas.openxmlformats.org/drawingml/2006/main">
            <a:pPr>
              <a:defRPr sz="21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  "http://127.0.0.1:8000/api/query?resource=games"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B7D1D7-8038-4517-96BA-C86DBC11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6675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7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7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7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7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7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7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7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7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7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No browser plug-in or mock data: Flask receives method QUERY and queries SQLite.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9EB21C-6181-4B7B-973F-242A7FEB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48000"/>
            <a:ext cx="7334250" cy="49530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6F04E5-7D80-4710-8AF7-9B26A508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6195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RESPONSE SHAPE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95362B-8181-4D7E-BE9B-266B8FC6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38625"/>
            <a:ext cx="5905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{</a:t>
            </a:r>
          </a:p>
          <a:p xmlns:a="http://schemas.openxmlformats.org/drawingml/2006/main">
            <a: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  "success": true,</a:t>
            </a:r>
          </a:p>
          <a:p xmlns:a="http://schemas.openxmlformats.org/drawingml/2006/main">
            <a: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  "data": {</a:t>
            </a:r>
          </a:p>
          <a:p xmlns:a="http://schemas.openxmlformats.org/drawingml/2006/main">
            <a: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    "method": "QUERY",</a:t>
            </a:r>
          </a:p>
          <a:p xmlns:a="http://schemas.openxmlformats.org/drawingml/2006/main">
            <a: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    "games": [...],</a:t>
            </a:r>
          </a:p>
          <a:p xmlns:a="http://schemas.openxmlformats.org/drawingml/2006/main">
            <a: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    "count": N</a:t>
            </a:r>
          </a:p>
          <a:p xmlns:a="http://schemas.openxmlformats.org/drawingml/2006/main">
            <a: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  }</a:t>
            </a:r>
          </a:p>
          <a:p xmlns:a="http://schemas.openxmlformats.org/drawingml/2006/main">
            <a:pPr>
              <a:defRPr sz="19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4C5E56-46E7-443F-8412-47AD45EF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096125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Read-only • database-backed • HTTP 200</a:t>
            </a:r>
          </a:p>
        </p:txBody>
      </p:sp>
    </p:spTree>
    <p:extLst>
      <p:ext uri="{BB962C8B-B14F-4D97-AF65-F5344CB8AC3E}">
        <p14:creationId xmlns:p14="http://schemas.microsoft.com/office/powerpoint/2010/main" val="16778591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8A44F3-4908-43C4-A953-1DFDD4F8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09  /  SECURITY BONUS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2F073-94DC-419F-BC43-882DA61B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60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What a passive MITM view can read.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C5F771-7DED-45B6-8812-D9BD7B8D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476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CDE4D8"/>
                </a:solidFill>
                <a:latin typeface="Aptos"/>
                <a:ea typeface="Aptos"/>
                <a:cs typeface="Aptos"/>
              </a:rPr>
              <a:t>We used Wireshark to demonstrate the risk safely; no ARP spoofing was run on the shared Wi-Fi.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7F92B-D434-45E2-9276-9864C902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695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48D"/>
          </a:solidFill>
          <a:ln xmlns:a="http://schemas.openxmlformats.org/drawingml/2006/main" w="0">
            <a:solidFill>
              <a:srgbClr val="6EA4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021804-DAC6-4BDF-9943-4AC7FAE9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C1B6"/>
                </a:solidFill>
                <a:latin typeface="Aptos"/>
                <a:ea typeface="Aptos"/>
                <a:cs typeface="Aptos"/>
              </a:rPr>
              <a:t>PADELI HYETI  /  COMPUTER NETWORKS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09EA5B-1061-4DCC-8F73-B2387FFB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677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AF9E0A-6BF3-4D80-8B57-C863EDB3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218FE3-ADD8-4B13-B8E2-A2F07CC1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VISIBLE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1A1705-89FF-49C5-A327-5047804D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57750"/>
            <a:ext cx="4000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HTTP request line</a:t>
            </a:r>
          </a:p>
          <a:p xmlns:a="http://schemas.openxmlformats.org/drawingml/2006/main">
            <a: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Headers</a:t>
            </a:r>
          </a:p>
          <a:p xmlns:a="http://schemas.openxmlformats.org/drawingml/2006/main">
            <a: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Response 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F365B5-FDA3-4996-A199-156A8288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F2B3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C28559-873D-429A-A860-A65E4B30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B8DCD-EEAF-4DB6-8E19-D3508724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4000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Plain HTTP is readable</a:t>
            </a:r>
          </a:p>
          <a:p xmlns:a="http://schemas.openxmlformats.org/drawingml/2006/main">
            <a: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to an on-path observer</a:t>
            </a:r>
          </a:p>
          <a:p xmlns:a="http://schemas.openxmlformats.org/drawingml/2006/main">
            <a: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(dummy accounts only)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0DAB53-A61B-43C6-AF92-4190DDB3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3619500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CDE4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63A55B-9BEA-4161-AA04-43C6F270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40957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MITIGATION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5CA3A0-661C-49EE-ACD4-180AA053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4857750"/>
            <a:ext cx="4000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Use HTTPS/TLS</a:t>
            </a:r>
          </a:p>
          <a:p xmlns:a="http://schemas.openxmlformats.org/drawingml/2006/main">
            <a: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for real credentials</a:t>
            </a:r>
          </a:p>
          <a:p xmlns:a="http://schemas.openxmlformats.org/drawingml/2006/main">
            <a:pPr>
              <a:defRPr sz="22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and public networks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3AE2AC-E771-4AFF-9B25-0BA67D6A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953375"/>
            <a:ext cx="1600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For an active MITM experiment, use only an isolated lab network with owned devices and explicit authorization. The presentation evidence here is passive packet capture.</a:t>
            </a:r>
          </a:p>
        </p:txBody>
      </p:sp>
    </p:spTree>
    <p:extLst>
      <p:ext uri="{BB962C8B-B14F-4D97-AF65-F5344CB8AC3E}">
        <p14:creationId xmlns:p14="http://schemas.microsoft.com/office/powerpoint/2010/main" val="12950024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4A23A3-19A9-429A-8849-0F713A71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10  /  DEMO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91E658-6F24-4A26-80E3-498700FB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60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A clean 90-second story.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BA3AD7-5CDF-4C2A-A2CE-77E29EE4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476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CDE4D8"/>
                </a:solidFill>
                <a:latin typeface="Aptos"/>
                <a:ea typeface="Aptos"/>
                <a:cs typeface="Aptos"/>
              </a:rPr>
              <a:t>Show the browser proof first, then the network proof.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43F2B-2C22-45D5-BEAE-91E098C4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695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48D"/>
          </a:solidFill>
          <a:ln xmlns:a="http://schemas.openxmlformats.org/drawingml/2006/main" w="0">
            <a:solidFill>
              <a:srgbClr val="6EA4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A7856-09FA-47B4-B9FA-CEA688E1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C1B6"/>
                </a:solidFill>
                <a:latin typeface="Aptos"/>
                <a:ea typeface="Aptos"/>
                <a:cs typeface="Aptos"/>
              </a:rPr>
              <a:t>PADELI HYETI  /  COMPUTER NETWORKS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8F324F-5A1E-467F-B56E-D2715FF8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677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204ADE-B3D5-4E69-8DBF-2979F162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9906000" cy="5048250"/>
          </a:xfrm>
          <a:prstGeom xmlns:a="http://schemas.openxmlformats.org/drawingml/2006/main" prst="roundRect">
            <a:avLst>
              <a:gd name="adj" fmla="val 2264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7C46FA-9EE5-4738-BFF4-A5FD98B8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71875"/>
            <a:ext cx="4286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4037"/>
          </a:solidFill>
          <a:ln xmlns:a="http://schemas.openxmlformats.org/drawingml/2006/main" w="0">
            <a:solidFill>
              <a:srgbClr val="0E403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E09EC3-9635-4984-9EA4-6C10581F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766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DD6FA7-681D-4268-8146-5EE32468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6195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Client 1 logs in and creates Game 5.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823105-6EBB-43C9-A16B-1B18ABC7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10075"/>
            <a:ext cx="4286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4037"/>
          </a:solidFill>
          <a:ln xmlns:a="http://schemas.openxmlformats.org/drawingml/2006/main" w="0">
            <a:solidFill>
              <a:srgbClr val="0E403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F68EB9-DBF4-4549-BF50-9F509B53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14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365A97-71CA-4B3D-B117-08CC7D75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4577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Client 2 finds the game and clicks Join.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CFF235-0602-43BB-B6D1-200B9466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48275"/>
            <a:ext cx="4286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4037"/>
          </a:solidFill>
          <a:ln xmlns:a="http://schemas.openxmlformats.org/drawingml/2006/main" w="0">
            <a:solidFill>
              <a:srgbClr val="0E403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C7A0BC-7ECB-4FA3-9557-11E16E29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530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EF9B5C-4F45-4E7A-828A-622C0E70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959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Client 1 refreshes: 2 of 4 players.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C0BF54-237E-47C3-8254-4AD46E39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086475"/>
            <a:ext cx="4286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4037"/>
          </a:solidFill>
          <a:ln xmlns:a="http://schemas.openxmlformats.org/drawingml/2006/main" w="0">
            <a:solidFill>
              <a:srgbClr val="0E403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40C079-B47D-4B3C-BD13-1D7491D0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1912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01B1BF-8EE8-407F-86EC-9E9C782B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1341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Wireshark filter shows POST and 200/201.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D08524-D3A5-4F3C-891B-9498FB82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924675"/>
            <a:ext cx="4286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4037"/>
          </a:solidFill>
          <a:ln xmlns:a="http://schemas.openxmlformats.org/drawingml/2006/main" w="0">
            <a:solidFill>
              <a:srgbClr val="0E403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844801-1113-4CF2-A3E0-16EBD53E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0294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B7656D-4205-4A70-A159-D3B49489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9723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Optional: run QUERY and show the JSON response.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4CCBFF-1FC2-418C-A307-83BE4710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143250"/>
            <a:ext cx="5810250" cy="5048250"/>
          </a:xfrm>
          <a:prstGeom xmlns:a="http://schemas.openxmlformats.org/drawingml/2006/main" prst="roundRect">
            <a:avLst>
              <a:gd name="adj" fmla="val 2264"/>
            </a:avLst>
          </a:prstGeom>
          <a:solidFill xmlns:a="http://schemas.openxmlformats.org/drawingml/2006/main">
            <a:srgbClr val="0E4037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2AA73F-8F1F-4BAA-B561-6D61D1B2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7147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FILES READY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D75825-D93D-4CC7-AB6F-F6A5CAA8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429125"/>
            <a:ext cx="4476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•  Clean PPTX</a:t>
            </a:r>
          </a:p>
          <a:p xmlns:a="http://schemas.openxmlformats.org/drawingml/2006/main">
            <a: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•  Client recordings</a:t>
            </a:r>
          </a:p>
          <a:p xmlns:a="http://schemas.openxmlformats.org/drawingml/2006/main">
            <a: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•  Wireshark PCAP</a:t>
            </a:r>
          </a:p>
          <a:p xmlns:a="http://schemas.openxmlformats.org/drawingml/2006/main">
            <a: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•  112 automated tests</a:t>
            </a:r>
          </a:p>
          <a:p xmlns:a="http://schemas.openxmlformats.org/drawingml/2006/main">
            <a: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•  README + NETWORK_LAB.md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F50A2C-8B6E-4264-92F4-FAD678FB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477125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Padeli Hyeti: one shared game, visible from both clients.</a:t>
            </a:r>
          </a:p>
        </p:txBody>
      </p:sp>
    </p:spTree>
    <p:extLst>
      <p:ext uri="{BB962C8B-B14F-4D97-AF65-F5344CB8AC3E}">
        <p14:creationId xmlns:p14="http://schemas.microsoft.com/office/powerpoint/2010/main" val="13926067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2026-10-21T13:26:30.7740000Z</dcterms:created>
  <dcterms:modified xsi:type="dcterms:W3CDTF">2026-10-21T13:26:30.7740000Z</dcterms:modified>
</coreProperties>
</file>