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e70443f19e476a" /><Relationship Type="http://schemas.openxmlformats.org/officeDocument/2006/relationships/extended-properties" Target="/docProps/app.xml" Id="R222691a057ed4f9e" /><Relationship Type="http://schemas.openxmlformats.org/officeDocument/2006/relationships/officeDocument" Target="/ppt/presentation.xml" Id="R0e37656585e8451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43e72c57bf54cb1"/>
  </p:sldMasterIdLst>
  <p:notesMasterIdLst>
    <p:notesMasterId xmlns:r="http://schemas.openxmlformats.org/officeDocument/2006/relationships" r:id="R8ace8d17e63544a6"/>
  </p:notesMasterIdLst>
  <p:sldIdLst>
    <p:sldId xmlns:r="http://schemas.openxmlformats.org/officeDocument/2006/relationships" id="256" r:id="Rbe54cfb14c8f46c0"/>
    <p:sldId xmlns:r="http://schemas.openxmlformats.org/officeDocument/2006/relationships" id="257" r:id="R3fcdcdfba3fa4d91"/>
    <p:sldId xmlns:r="http://schemas.openxmlformats.org/officeDocument/2006/relationships" id="258" r:id="Rc8b6429067c94eb4"/>
    <p:sldId xmlns:r="http://schemas.openxmlformats.org/officeDocument/2006/relationships" id="259" r:id="R6b60bbf78b3f4023"/>
    <p:sldId xmlns:r="http://schemas.openxmlformats.org/officeDocument/2006/relationships" id="260" r:id="R5bfc32b5ffcb49d6"/>
    <p:sldId xmlns:r="http://schemas.openxmlformats.org/officeDocument/2006/relationships" id="261" r:id="R35cf9a46972e4a58"/>
    <p:sldId xmlns:r="http://schemas.openxmlformats.org/officeDocument/2006/relationships" id="262" r:id="R6cce484e0c3242a7"/>
    <p:sldId xmlns:r="http://schemas.openxmlformats.org/officeDocument/2006/relationships" id="263" r:id="Rc42d9b2059d041ea"/>
    <p:sldId xmlns:r="http://schemas.openxmlformats.org/officeDocument/2006/relationships" id="264" r:id="R40baa425f3444696"/>
    <p:sldId xmlns:r="http://schemas.openxmlformats.org/officeDocument/2006/relationships" id="265" r:id="R2d90382305c64ef9"/>
  </p:sldIdLst>
  <p:sldSz cx="18288000" cy="10287000"/>
  <p:notesSz cx="6858000" cy="9144000"/>
  <p:embeddedFontLst>
    <p:embeddedFont>
      <p:font typeface="Roboto Bold"/>
      <p:regular xmlns:r="http://schemas.openxmlformats.org/officeDocument/2006/relationships" r:id="R278d256da0a3426e"/>
    </p:embeddedFont>
    <p:embeddedFont>
      <p:font typeface="Roboto"/>
      <p:regular xmlns:r="http://schemas.openxmlformats.org/officeDocument/2006/relationships" r:id="Re8bcca1fc972461f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4a66cfbb50413d" /><Relationship Type="http://schemas.openxmlformats.org/officeDocument/2006/relationships/slideMaster" Target="/ppt/slideMasters/slideMaster1.xml" Id="R343e72c57bf54cb1" /><Relationship Type="http://schemas.openxmlformats.org/officeDocument/2006/relationships/notesMaster" Target="/ppt/notesMasters/notesMaster1.xml" Id="R8ace8d17e63544a6" /><Relationship Type="http://schemas.openxmlformats.org/officeDocument/2006/relationships/presProps" Target="/ppt/presProps.xml" Id="Rfb0d9fe991bf4369" /><Relationship Type="http://schemas.openxmlformats.org/officeDocument/2006/relationships/viewProps" Target="/ppt/viewProps.xml" Id="R0011b513897a4565" /><Relationship Type="http://schemas.openxmlformats.org/officeDocument/2006/relationships/tableStyles" Target="/ppt/tableStyles.xml" Id="Rdff97fc9c44f4df6" /><Relationship Type="http://schemas.openxmlformats.org/officeDocument/2006/relationships/font" Target="/ppt/fonts/font.dat" Id="R278d256da0a3426e" /><Relationship Type="http://schemas.openxmlformats.org/officeDocument/2006/relationships/font" Target="/ppt/fonts/font2.dat" Id="Re8bcca1fc972461f" /><Relationship Type="http://schemas.openxmlformats.org/officeDocument/2006/relationships/slide" Target="/ppt/slides/slide1.xml" Id="Rbe54cfb14c8f46c0" /><Relationship Type="http://schemas.openxmlformats.org/officeDocument/2006/relationships/slide" Target="/ppt/slides/slide2.xml" Id="R3fcdcdfba3fa4d91" /><Relationship Type="http://schemas.openxmlformats.org/officeDocument/2006/relationships/slide" Target="/ppt/slides/slide3.xml" Id="Rc8b6429067c94eb4" /><Relationship Type="http://schemas.openxmlformats.org/officeDocument/2006/relationships/slide" Target="/ppt/slides/slide4.xml" Id="R6b60bbf78b3f4023" /><Relationship Type="http://schemas.openxmlformats.org/officeDocument/2006/relationships/slide" Target="/ppt/slides/slide5.xml" Id="R5bfc32b5ffcb49d6" /><Relationship Type="http://schemas.openxmlformats.org/officeDocument/2006/relationships/slide" Target="/ppt/slides/slide6.xml" Id="R35cf9a46972e4a58" /><Relationship Type="http://schemas.openxmlformats.org/officeDocument/2006/relationships/slide" Target="/ppt/slides/slide7.xml" Id="R6cce484e0c3242a7" /><Relationship Type="http://schemas.openxmlformats.org/officeDocument/2006/relationships/slide" Target="/ppt/slides/slide8.xml" Id="Rc42d9b2059d041ea" /><Relationship Type="http://schemas.openxmlformats.org/officeDocument/2006/relationships/slide" Target="/ppt/slides/slide9.xml" Id="R40baa425f3444696" /><Relationship Type="http://schemas.openxmlformats.org/officeDocument/2006/relationships/slide" Target="/ppt/slides/slide10.xml" Id="R2d90382305c64e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4095c474648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c70f9a8eb84a67" /><Relationship Type="http://schemas.openxmlformats.org/officeDocument/2006/relationships/notesMaster" Target="/ppt/notesMasters/notesMaster1.xml" Id="Re3092cf6639844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ff13f48b31451b" /><Relationship Type="http://schemas.openxmlformats.org/officeDocument/2006/relationships/notesMaster" Target="/ppt/notesMasters/notesMaster1.xml" Id="R44bc0cf78cf7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49cbf10b80405f" /><Relationship Type="http://schemas.openxmlformats.org/officeDocument/2006/relationships/notesMaster" Target="/ppt/notesMasters/notesMaster1.xml" Id="R7dfa03a13b8a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8934f54ed344c5" /><Relationship Type="http://schemas.openxmlformats.org/officeDocument/2006/relationships/notesMaster" Target="/ppt/notesMasters/notesMaster1.xml" Id="Ra2cd7c91e59447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a4a5953db4679" /><Relationship Type="http://schemas.openxmlformats.org/officeDocument/2006/relationships/notesMaster" Target="/ppt/notesMasters/notesMaster1.xml" Id="Rc18b4e5bcadf4b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4ec015fed4089" /><Relationship Type="http://schemas.openxmlformats.org/officeDocument/2006/relationships/notesMaster" Target="/ppt/notesMasters/notesMaster1.xml" Id="R6aac355acaa443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92e6817e0549a0" /><Relationship Type="http://schemas.openxmlformats.org/officeDocument/2006/relationships/notesMaster" Target="/ppt/notesMasters/notesMaster1.xml" Id="R65d83088ac6647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6fae634c845bb" /><Relationship Type="http://schemas.openxmlformats.org/officeDocument/2006/relationships/notesMaster" Target="/ppt/notesMasters/notesMaster1.xml" Id="R9aaed954b21640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0f404539b14746" /><Relationship Type="http://schemas.openxmlformats.org/officeDocument/2006/relationships/notesMaster" Target="/ppt/notesMasters/notesMaster1.xml" Id="Rd6406051dba54b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97f9963ad24792" /><Relationship Type="http://schemas.openxmlformats.org/officeDocument/2006/relationships/notesMaster" Target="/ppt/notesMasters/notesMaster1.xml" Id="R7f4ec29d3231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b3ef3e71f4a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b1bb7b4de744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7ceaed03cd48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2a0b25aeb48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f861d468e4f3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37849ff5664e1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03d72c770c49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e8ca81e08c432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23856216f64a5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0d0f6497d4a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ff3c0615d643d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CB9E38-6577-4373-B419-1067DF9FCAA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6674323-9441-4523-90A1-8237CBFAEA3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6B891E-A47F-47FC-8498-748583D5D4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F597C2-5E31-4BFB-894D-BF3A42F257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24F67F3-364C-4A90-B549-2149E3AAB8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936BEF-2B09-4734-9534-E33BEFD1F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C8DDB90-DF18-48B9-B0A0-5F57D1B54D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59E66A-50FD-4001-89CB-E495A7AA39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A4D8E3-C97D-4D5A-880B-46B7E53168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700F90-9360-4E55-B18A-CB5AE569D1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1DC8C-828B-4A58-8702-E58A602800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A5C3960-83A0-409D-BF13-97C10280BD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6AE862-3D74-46F4-8F26-BA0C4AF561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5C25EC3-37ED-4BD6-B73E-215DEE69A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B852FB-4BCE-4AE7-A1AF-E2AA2E87A3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8EB085-6651-4F4C-8999-A86F71A2F1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124A3A-924C-47B6-95F5-E0468681F1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0EEEFA-767F-4D50-88AA-94611D09C38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874E879-83EB-4B17-AC47-9560288BA8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94635CC-A24E-4DEB-8D7F-B94B025F82F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535EC9-A65B-40B3-B018-66749965A9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D3986-7236-4422-845A-3EEFAEFE1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7ED6AC-81E9-4546-A8B0-D89DE6D9B4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7794B04-B0CC-4F6B-A7DA-D353774CC46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F503254-5092-47B1-B391-D88C82B8A7E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6FA2995-5BD9-4D7C-B453-EFB59499D0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DC49227-2E1B-4037-A6DC-CBE7C98E7E4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1C5D308-6068-49FF-9B02-688A922502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3254C503-54C7-415A-8BC7-72BF06730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2F3B7C-7105-48BB-A63A-B602E120FE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C3CF524-9B06-474E-8A90-09ECE2302B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E2CE65A-C3DF-432E-B4FB-0EF254146C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71E1637-9EE8-45E7-9437-7BC1E2C019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A394098-BEE0-4100-B43D-12B07E6DFD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E4E3F7B-D82D-4BC2-B7B7-819513F971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5E3B1FE-52AB-451E-9886-E3C08B646F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1D8326-189D-4534-B939-2CC4FAEC1C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8863A7-9F36-4585-B91F-F27AE45880D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892A19-653B-413B-BDB0-F305A8BD2F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E684CF-7910-4590-AB0E-B9B5421E0D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9F0CB7-4BCE-404A-A632-54C72C8CE4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9993C5-DAE0-4CA6-B4D8-4752324839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65C213-A95D-4B5C-8C6B-B466817CB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BE79682-7752-4EF6-A5AD-7D25218CB84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B25AAAC-4D6F-4BE3-A503-32936426F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F7EB5CD-7560-4A96-A23D-4BF533150A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E0B89BB-DD25-4FD4-AD60-57776A9D6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57A69A8-F2CF-458A-A723-38E26F1884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C93D2A-03C3-4597-A0E4-370A12244E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5286D8-C634-41FD-8CD2-83C3A9A59F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F3A8A7-1EE3-4EFB-9EB4-8CB9437E6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79C16F-90DE-4653-9E0C-726B9A4D4C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9E8E12-BC66-46BB-BEB0-74F24E7D77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B58021C-CC27-42EA-9D05-2B6CF4A2A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1097BE-2DD0-40B6-A00A-FD29F24839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DF7F5-5906-44C7-852F-4ACBC34D8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4DE06A-D944-4BD1-80E4-BBD34F575C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BFFDBA-CA4A-467E-933F-C0671D628F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68842c04d84911" /><Relationship Type="http://schemas.openxmlformats.org/officeDocument/2006/relationships/slideLayout" Target="/ppt/slideLayouts/slideLayout1.xml" Id="R183902a79ce44bd7" /><Relationship Type="http://schemas.openxmlformats.org/officeDocument/2006/relationships/slideLayout" Target="/ppt/slideLayouts/slideLayout2.xml" Id="R2b4941681356421e" /><Relationship Type="http://schemas.openxmlformats.org/officeDocument/2006/relationships/slideLayout" Target="/ppt/slideLayouts/slideLayout3.xml" Id="Rd14c7d62790b4f0d" /><Relationship Type="http://schemas.openxmlformats.org/officeDocument/2006/relationships/slideLayout" Target="/ppt/slideLayouts/slideLayout4.xml" Id="Rd3e2c937173e4456" /><Relationship Type="http://schemas.openxmlformats.org/officeDocument/2006/relationships/slideLayout" Target="/ppt/slideLayouts/slideLayout5.xml" Id="R2f69794a94334a3a" /><Relationship Type="http://schemas.openxmlformats.org/officeDocument/2006/relationships/slideLayout" Target="/ppt/slideLayouts/slideLayout6.xml" Id="Rae31aed663e64305" /><Relationship Type="http://schemas.openxmlformats.org/officeDocument/2006/relationships/slideLayout" Target="/ppt/slideLayouts/slideLayout7.xml" Id="R976d655fed334846" /><Relationship Type="http://schemas.openxmlformats.org/officeDocument/2006/relationships/slideLayout" Target="/ppt/slideLayouts/slideLayout8.xml" Id="R9b3dc78e4aa749e5" /><Relationship Type="http://schemas.openxmlformats.org/officeDocument/2006/relationships/slideLayout" Target="/ppt/slideLayouts/slideLayout9.xml" Id="R3da528872e594ac8" /><Relationship Type="http://schemas.openxmlformats.org/officeDocument/2006/relationships/slideLayout" Target="/ppt/slideLayouts/slideLayout10.xml" Id="R6fe8193d64474fee" /><Relationship Type="http://schemas.openxmlformats.org/officeDocument/2006/relationships/slideLayout" Target="/ppt/slideLayouts/slideLayout11.xml" Id="R919e104d81cd458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695F436-3716-4D61-A95D-1D78631263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7AA4C6C-C059-48E0-8CD0-6BCAD8E1AF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5F5697-1718-4727-8880-CAAC617ECD3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87534E-B86E-46B5-8719-403245B4CB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4BC580-31AF-43F6-9803-6F5BA00C881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3902a79ce44bd7"/>
    <p:sldLayoutId xmlns:r="http://schemas.openxmlformats.org/officeDocument/2006/relationships" id="2147483650" r:id="R2b4941681356421e"/>
    <p:sldLayoutId xmlns:r="http://schemas.openxmlformats.org/officeDocument/2006/relationships" id="2147483651" r:id="Rd14c7d62790b4f0d"/>
    <p:sldLayoutId xmlns:r="http://schemas.openxmlformats.org/officeDocument/2006/relationships" id="2147483652" r:id="Rd3e2c937173e4456"/>
    <p:sldLayoutId xmlns:r="http://schemas.openxmlformats.org/officeDocument/2006/relationships" id="2147483653" r:id="R2f69794a94334a3a"/>
    <p:sldLayoutId xmlns:r="http://schemas.openxmlformats.org/officeDocument/2006/relationships" id="2147483654" r:id="Rae31aed663e64305"/>
    <p:sldLayoutId xmlns:r="http://schemas.openxmlformats.org/officeDocument/2006/relationships" id="2147483655" r:id="R976d655fed334846"/>
    <p:sldLayoutId xmlns:r="http://schemas.openxmlformats.org/officeDocument/2006/relationships" id="2147483656" r:id="R9b3dc78e4aa749e5"/>
    <p:sldLayoutId xmlns:r="http://schemas.openxmlformats.org/officeDocument/2006/relationships" id="2147483657" r:id="R3da528872e594ac8"/>
    <p:sldLayoutId xmlns:r="http://schemas.openxmlformats.org/officeDocument/2006/relationships" id="2147483658" r:id="R6fe8193d64474fee"/>
    <p:sldLayoutId xmlns:r="http://schemas.openxmlformats.org/officeDocument/2006/relationships" id="2147483659" r:id="R919e104d81cd458a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94a6e693cf48e2" /><Relationship Type="http://schemas.openxmlformats.org/officeDocument/2006/relationships/image" Target="/ppt/media/image.png" Id="Raa65aeea00174743" /><Relationship Type="http://schemas.openxmlformats.org/officeDocument/2006/relationships/image" Target="/ppt/media/image2.png" Id="Rec17dcada74d4748" /><Relationship Type="http://schemas.openxmlformats.org/officeDocument/2006/relationships/image" Target="/ppt/media/image3.png" Id="R0c224fba2bb34265" /><Relationship Type="http://schemas.openxmlformats.org/officeDocument/2006/relationships/image" Target="/ppt/media/image4.png" Id="R835b796e68e744b0" /><Relationship Type="http://schemas.openxmlformats.org/officeDocument/2006/relationships/image" Target="/ppt/media/image5.png" Id="Rf286cd77ad8343c6" /><Relationship Type="http://schemas.openxmlformats.org/officeDocument/2006/relationships/image" Target="/ppt/media/image6.png" Id="R39eb4387799c4ceb" /><Relationship Type="http://schemas.openxmlformats.org/officeDocument/2006/relationships/image" Target="/ppt/media/image7.png" Id="Rd46d8931e17b4004" /><Relationship Type="http://schemas.openxmlformats.org/officeDocument/2006/relationships/image" Target="/ppt/media/image8.png" Id="R7272265d9ef243e6" /><Relationship Type="http://schemas.openxmlformats.org/officeDocument/2006/relationships/image" Target="/ppt/media/image9.png" Id="Rae3f6561cb4d4663" /><Relationship Type="http://schemas.openxmlformats.org/officeDocument/2006/relationships/image" Target="/ppt/media/image10.png" Id="R7353afb95ce34b8e" /><Relationship Type="http://schemas.openxmlformats.org/officeDocument/2006/relationships/image" Target="/ppt/media/image11.png" Id="R32f9f5328b8a4a9d" /><Relationship Type="http://schemas.openxmlformats.org/officeDocument/2006/relationships/notesSlide" Target="/ppt/notesSlides/notesSlide1.xml" Id="R69a86af4e2e04e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3f0e7298c14ed7" /><Relationship Type="http://schemas.openxmlformats.org/officeDocument/2006/relationships/image" Target="/ppt/media/image12.png" Id="R5479aa191b484f19" /><Relationship Type="http://schemas.openxmlformats.org/officeDocument/2006/relationships/image" Target="/ppt/media/image13.png" Id="R5e07aefa6ca5415a" /><Relationship Type="http://schemas.openxmlformats.org/officeDocument/2006/relationships/image" Target="/ppt/media/image14.png" Id="Rececc7586d73484e" /><Relationship Type="http://schemas.openxmlformats.org/officeDocument/2006/relationships/image" Target="/ppt/media/image15.png" Id="Reac1e9e71a414d75" /><Relationship Type="http://schemas.openxmlformats.org/officeDocument/2006/relationships/image" Target="/ppt/media/image16.png" Id="R5d203bcd52554776" /><Relationship Type="http://schemas.openxmlformats.org/officeDocument/2006/relationships/image" Target="/ppt/media/image17.png" Id="Rd45a2dd51982468c" /><Relationship Type="http://schemas.openxmlformats.org/officeDocument/2006/relationships/image" Target="/ppt/media/image18.png" Id="Re092de922ff943b7" /><Relationship Type="http://schemas.openxmlformats.org/officeDocument/2006/relationships/image" Target="/ppt/media/image19.png" Id="R66957bfa83114186" /><Relationship Type="http://schemas.openxmlformats.org/officeDocument/2006/relationships/image" Target="/ppt/media/image20.png" Id="Rbea9d4fb10c147cf" /><Relationship Type="http://schemas.openxmlformats.org/officeDocument/2006/relationships/image" Target="/ppt/media/image21.png" Id="R195d0035c4b4486c" /><Relationship Type="http://schemas.openxmlformats.org/officeDocument/2006/relationships/image" Target="/ppt/media/image22.png" Id="R232c905a9a1d4f70" /><Relationship Type="http://schemas.openxmlformats.org/officeDocument/2006/relationships/image" Target="/ppt/media/image23.png" Id="R6df538f1bc6b42bd" /><Relationship Type="http://schemas.openxmlformats.org/officeDocument/2006/relationships/image" Target="/ppt/media/image24.png" Id="R0a16f7cc35a2442e" /><Relationship Type="http://schemas.openxmlformats.org/officeDocument/2006/relationships/image" Target="/ppt/media/image25.png" Id="Rbe8cdf354403491b" /><Relationship Type="http://schemas.openxmlformats.org/officeDocument/2006/relationships/image" Target="/ppt/media/image26.png" Id="Rfbaa0d51076844e0" /><Relationship Type="http://schemas.openxmlformats.org/officeDocument/2006/relationships/image" Target="/ppt/media/image27.png" Id="R86c0df75ec7047ee" /><Relationship Type="http://schemas.openxmlformats.org/officeDocument/2006/relationships/image" Target="/ppt/media/image28.png" Id="Ra5f3d4ac4bc04634" /><Relationship Type="http://schemas.openxmlformats.org/officeDocument/2006/relationships/image" Target="/ppt/media/image29.png" Id="Rdd3bba88299543f8" /><Relationship Type="http://schemas.openxmlformats.org/officeDocument/2006/relationships/image" Target="/ppt/media/image30.png" Id="Rf2be7fca482040b3" /><Relationship Type="http://schemas.openxmlformats.org/officeDocument/2006/relationships/image" Target="/ppt/media/image31.png" Id="R989258611e2943e0" /><Relationship Type="http://schemas.openxmlformats.org/officeDocument/2006/relationships/notesSlide" Target="/ppt/notesSlides/notesSlide2.xml" Id="R561d7e03cf45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54d5ff7d90043f9" /><Relationship Type="http://schemas.openxmlformats.org/officeDocument/2006/relationships/image" Target="/ppt/media/image32.png" Id="R4a2e08d1e5ea4aa5" /><Relationship Type="http://schemas.openxmlformats.org/officeDocument/2006/relationships/image" Target="/ppt/media/image33.png" Id="R202a043474814f4c" /><Relationship Type="http://schemas.openxmlformats.org/officeDocument/2006/relationships/image" Target="/ppt/media/image34.png" Id="Ra3876bf07a2e496e" /><Relationship Type="http://schemas.openxmlformats.org/officeDocument/2006/relationships/image" Target="/ppt/media/image35.png" Id="R28fbdea2b4bd4408" /><Relationship Type="http://schemas.openxmlformats.org/officeDocument/2006/relationships/image" Target="/ppt/media/image36.png" Id="R67334b1da57d4bc5" /><Relationship Type="http://schemas.openxmlformats.org/officeDocument/2006/relationships/image" Target="/ppt/media/image37.png" Id="Re35fdb0d076f4ae3" /><Relationship Type="http://schemas.openxmlformats.org/officeDocument/2006/relationships/image" Target="/ppt/media/image38.png" Id="R64095883255a472e" /><Relationship Type="http://schemas.openxmlformats.org/officeDocument/2006/relationships/image" Target="/ppt/media/image39.png" Id="R224a32590f20494b" /><Relationship Type="http://schemas.openxmlformats.org/officeDocument/2006/relationships/image" Target="/ppt/media/image40.png" Id="Rd1f585da033b42d9" /><Relationship Type="http://schemas.openxmlformats.org/officeDocument/2006/relationships/image" Target="/ppt/media/image41.png" Id="R912894dbb9ae40d4" /><Relationship Type="http://schemas.openxmlformats.org/officeDocument/2006/relationships/image" Target="/ppt/media/image42.png" Id="Rf9b141661a3f41f2" /><Relationship Type="http://schemas.openxmlformats.org/officeDocument/2006/relationships/image" Target="/ppt/media/image43.png" Id="R0c7149e977cf4c85" /><Relationship Type="http://schemas.openxmlformats.org/officeDocument/2006/relationships/image" Target="/ppt/media/image44.png" Id="R1928fbb3ca9f4fea" /><Relationship Type="http://schemas.openxmlformats.org/officeDocument/2006/relationships/image" Target="/ppt/media/image45.png" Id="Refd2e76831554652" /><Relationship Type="http://schemas.openxmlformats.org/officeDocument/2006/relationships/image" Target="/ppt/media/image46.png" Id="R5a1a8d6b76794b9a" /><Relationship Type="http://schemas.openxmlformats.org/officeDocument/2006/relationships/image" Target="/ppt/media/image47.png" Id="R3d3fed5e0b134341" /><Relationship Type="http://schemas.openxmlformats.org/officeDocument/2006/relationships/image" Target="/ppt/media/image48.png" Id="R5a2e8ab9060d4400" /><Relationship Type="http://schemas.openxmlformats.org/officeDocument/2006/relationships/image" Target="/ppt/media/image49.png" Id="R209693802a98425e" /><Relationship Type="http://schemas.openxmlformats.org/officeDocument/2006/relationships/image" Target="/ppt/media/image50.png" Id="R7b7bbb2a841a477c" /><Relationship Type="http://schemas.openxmlformats.org/officeDocument/2006/relationships/image" Target="/ppt/media/image51.png" Id="R83ce2ec521c541e0" /><Relationship Type="http://schemas.openxmlformats.org/officeDocument/2006/relationships/image" Target="/ppt/media/image52.png" Id="Rddc420b4455548c7" /><Relationship Type="http://schemas.openxmlformats.org/officeDocument/2006/relationships/image" Target="/ppt/media/image53.png" Id="R255a2f1dc56b4001" /><Relationship Type="http://schemas.openxmlformats.org/officeDocument/2006/relationships/image" Target="/ppt/media/image54.png" Id="R193e1368e8d74051" /><Relationship Type="http://schemas.openxmlformats.org/officeDocument/2006/relationships/image" Target="/ppt/media/image55.png" Id="R8d391a8ef8ae4d86" /><Relationship Type="http://schemas.openxmlformats.org/officeDocument/2006/relationships/image" Target="/ppt/media/image56.png" Id="R22283897a8234d5b" /><Relationship Type="http://schemas.openxmlformats.org/officeDocument/2006/relationships/image" Target="/ppt/media/image57.png" Id="R7f6003dfcec843d1" /><Relationship Type="http://schemas.openxmlformats.org/officeDocument/2006/relationships/image" Target="/ppt/media/image58.png" Id="Rf97095cabcfa4172" /><Relationship Type="http://schemas.openxmlformats.org/officeDocument/2006/relationships/image" Target="/ppt/media/image59.png" Id="R95c553d5eebb4c5e" /><Relationship Type="http://schemas.openxmlformats.org/officeDocument/2006/relationships/image" Target="/ppt/media/image60.png" Id="R3bc314f0164c4746" /><Relationship Type="http://schemas.openxmlformats.org/officeDocument/2006/relationships/image" Target="/ppt/media/image61.png" Id="R255ed281908d4538" /><Relationship Type="http://schemas.openxmlformats.org/officeDocument/2006/relationships/image" Target="/ppt/media/image62.png" Id="Rc55f5f5ec22a4462" /><Relationship Type="http://schemas.openxmlformats.org/officeDocument/2006/relationships/image" Target="/ppt/media/image63.png" Id="Rb367d9215e344407" /><Relationship Type="http://schemas.openxmlformats.org/officeDocument/2006/relationships/notesSlide" Target="/ppt/notesSlides/notesSlide3.xml" Id="Rcc0fd01a1f744a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9131fca14342c7" /><Relationship Type="http://schemas.openxmlformats.org/officeDocument/2006/relationships/notesSlide" Target="/ppt/notesSlides/notesSlide4.xml" Id="Rea69037cdfa54d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38b43dc5e14a23" /><Relationship Type="http://schemas.openxmlformats.org/officeDocument/2006/relationships/notesSlide" Target="/ppt/notesSlides/notesSlide5.xml" Id="R65d28082be6f4f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5c2cf2a2bb4943" /><Relationship Type="http://schemas.openxmlformats.org/officeDocument/2006/relationships/notesSlide" Target="/ppt/notesSlides/notesSlide6.xml" Id="R95cde21b62f742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c3a0a593094b50" /><Relationship Type="http://schemas.openxmlformats.org/officeDocument/2006/relationships/notesSlide" Target="/ppt/notesSlides/notesSlide7.xml" Id="R3cf01e323a0f4d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37f612a02948ae" /><Relationship Type="http://schemas.openxmlformats.org/officeDocument/2006/relationships/image" Target="/ppt/media/image64.png" Id="Rcdc293772f904c60" /><Relationship Type="http://schemas.openxmlformats.org/officeDocument/2006/relationships/image" Target="/ppt/media/image65.png" Id="R62de3ed64a7f40a6" /><Relationship Type="http://schemas.openxmlformats.org/officeDocument/2006/relationships/hyperlink" Target="file:///C:/Users/KATEB/Documents/PaddelLab/deliverables/client1_organizer_proof.mp4" TargetMode="External" Id="Rf935ec8c89af4763" /><Relationship Type="http://schemas.openxmlformats.org/officeDocument/2006/relationships/hyperlink" Target="file:///C:/Users/KATEB/Documents/PaddelLab/deliverables/client2_join_proof.mp4" TargetMode="External" Id="R4fa68c25515744a4" /><Relationship Type="http://schemas.openxmlformats.org/officeDocument/2006/relationships/notesSlide" Target="/ppt/notesSlides/notesSlide8.xml" Id="Rb05b4887d05f44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4cadd505194a47" /><Relationship Type="http://schemas.openxmlformats.org/officeDocument/2006/relationships/image" Target="/ppt/media/image66.png" Id="R27a44a73312c4740" /><Relationship Type="http://schemas.openxmlformats.org/officeDocument/2006/relationships/notesSlide" Target="/ppt/notesSlides/notesSlide9.xml" Id="R22d1c8e808e44a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724754f5844db4" /><Relationship Type="http://schemas.openxmlformats.org/officeDocument/2006/relationships/notesSlide" Target="/ppt/notesSlides/notesSlide10.xml" Id="R3bf7ea5e491e43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2392B82-FF8F-4BC4-B46E-ECB432E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65aeea00174743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30015E2-BFA8-4EDB-BD64-607C8177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1924030"/>
            <a:ext cx="5009512" cy="6220301"/>
          </a:xfrm>
          <a:custGeom xmlns:a="http://schemas.openxmlformats.org/drawingml/2006/main">
            <a:rect l="l" t="t" r="r" b="b"/>
            <a:pathLst>
              <a:path w="5009512" h="6220301">
                <a:moveTo>
                  <a:pt x="0" y="0"/>
                </a:moveTo>
                <a:lnTo>
                  <a:pt x="5009512" y="0"/>
                </a:lnTo>
                <a:lnTo>
                  <a:pt x="5009512" y="6220300"/>
                </a:lnTo>
                <a:lnTo>
                  <a:pt x="0" y="62203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17dcada74d4748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72E8785A-B526-433D-9091-A1296C30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5138034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224fba2bb34265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F4826ECE-E332-4B65-9AD8-4789B304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888" y="752853"/>
            <a:ext cx="7147154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F8F8F8"/>
                </a:solidFill>
                <a:latin typeface="Roboto Bold"/>
                <a:ea typeface="Roboto Bold"/>
                <a:cs typeface="Roboto Bold"/>
              </a:rPr>
              <a:t>Padeli Hyeti –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691182F-384F-4E80-84EC-30724318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420" y="2063146"/>
            <a:ext cx="10293936" cy="12537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357"/>
              </a:lnSpc>
              <a:buNone/>
            </a:pPr>
            <a:r>
              <a:rPr sz="9357" b="1" spc="-3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Padel Player Finder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5C0675A-119D-4D02-81AA-0650332A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553" y="3474894"/>
            <a:ext cx="6938491" cy="8937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05"/>
              </a:lnSpc>
              <a:buNone/>
            </a:pPr>
            <a:r>
              <a:rPr sz="2575" spc="-103">
                <a:solidFill>
                  <a:srgbClr val="B7D34B"/>
                </a:solidFill>
                <a:latin typeface="Roboto"/>
                <a:ea typeface="Roboto"/>
                <a:cs typeface="Roboto"/>
              </a:rPr>
              <a:t>A real HTTP client-server application for finding players and organizing Padel games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5ABF28A-8469-4AF1-AF5B-D38F145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231" y="5341897"/>
            <a:ext cx="3070683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 players need a simple way to find suitable players and join available games.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E0835626-D34A-4CA6-B189-9632CD4B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2061" y="4945559"/>
            <a:ext cx="1712656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OUR SOLUTION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FDE393-B92D-49FD-8CE3-B6F06BCE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0696" y="5341896"/>
            <a:ext cx="3849157" cy="10647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76">
                <a:solidFill>
                  <a:srgbClr val="F8F8F8"/>
                </a:solidFill>
                <a:latin typeface="Roboto"/>
                <a:ea typeface="Roboto"/>
                <a:cs typeface="Roboto"/>
              </a:rPr>
              <a:t>Padeli Hyeti connects browser clients to a centralized Flask server and persistent SQLite database.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DD58CECE-61CF-4BF0-BB70-11B504FA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6854356"/>
            <a:ext cx="4364182" cy="1727254"/>
          </a:xfrm>
          <a:custGeom xmlns:a="http://schemas.openxmlformats.org/drawingml/2006/main">
            <a:rect l="l" t="t" r="r" b="b"/>
            <a:pathLst>
              <a:path w="4364182" h="1727254">
                <a:moveTo>
                  <a:pt x="0" y="0"/>
                </a:moveTo>
                <a:lnTo>
                  <a:pt x="4364182" y="0"/>
                </a:lnTo>
                <a:lnTo>
                  <a:pt x="436418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5b796e68e744b0"/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8FFB7ED6-55D3-477E-9AC6-9F8AB210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86cd77ad8343c6"/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10428B-5F65-426F-8600-603134F0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7768" y="7174563"/>
            <a:ext cx="185677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TEAM MEMBERS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8F5E822-C10C-4830-A8D2-D2A0DA2B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6914" y="7581206"/>
            <a:ext cx="1942174" cy="10645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3-member university project team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3E3603A6-E340-494E-BDDF-0973A8C7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79818" y="6854356"/>
            <a:ext cx="5457962" cy="1727254"/>
          </a:xfrm>
          <a:custGeom xmlns:a="http://schemas.openxmlformats.org/drawingml/2006/main">
            <a:rect l="l" t="t" r="r" b="b"/>
            <a:pathLst>
              <a:path w="5457962" h="1727254">
                <a:moveTo>
                  <a:pt x="0" y="0"/>
                </a:moveTo>
                <a:lnTo>
                  <a:pt x="5457962" y="0"/>
                </a:lnTo>
                <a:lnTo>
                  <a:pt x="5457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9eb4387799c4ceb"/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2ECF6825-4BAB-482C-89BC-69374601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7330" y="7062064"/>
            <a:ext cx="1104718" cy="1300906"/>
          </a:xfrm>
          <a:custGeom xmlns:a="http://schemas.openxmlformats.org/drawingml/2006/main"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6d8931e17b4004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D87E772C-9D53-471A-BCF0-B04BAC48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9911" y="7581206"/>
            <a:ext cx="2983116" cy="7096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github.com/bvbvbv54/Paddelni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54DDEECE-B7EE-4BD3-8CF5-6720FD3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26842" y="6854356"/>
            <a:ext cx="5239206" cy="1727254"/>
          </a:xfrm>
          <a:custGeom xmlns:a="http://schemas.openxmlformats.org/drawingml/2006/main">
            <a:rect l="l" t="t" r="r" b="b"/>
            <a:pathLst>
              <a:path w="5239206" h="1727254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272265d9ef243e6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0A2A21C2-71AD-4F44-AFF5-013F8E12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45598" y="7062064"/>
            <a:ext cx="1093780" cy="1300906"/>
          </a:xfrm>
          <a:custGeom xmlns:a="http://schemas.openxmlformats.org/drawingml/2006/main"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3f6561cb4d4663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5056C57B-9FAC-40AC-AA4C-59C10711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61169" y="7174563"/>
            <a:ext cx="2601897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APPLICATION PREVIEW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732859FE-3DD5-4B4D-9FF4-E29FBC89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6887" y="7581206"/>
            <a:ext cx="3030093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Two-browser client demo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8DB7B606-83E5-4083-9553-325114F1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570678"/>
            <a:ext cx="15039474" cy="1508614"/>
          </a:xfrm>
          <a:custGeom xmlns:a="http://schemas.openxmlformats.org/drawingml/2006/main">
            <a:rect l="l" t="t" r="r" b="b"/>
            <a:pathLst>
              <a:path w="15039474" h="1508614">
                <a:moveTo>
                  <a:pt x="0" y="0"/>
                </a:moveTo>
                <a:lnTo>
                  <a:pt x="15039474" y="0"/>
                </a:lnTo>
                <a:lnTo>
                  <a:pt x="15039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353afb95ce34b8e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0DA10EC-6B92-4C04-B311-E84D27A9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778386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2f9f5328b8a4a9d"/>
            <a:stretch>
              <a:fillRect l="0" t="0" r="0" b="0"/>
            </a:stretch>
          </a:blipFill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D404259F-0F1A-4DEB-8F3A-D7346C0E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46" y="8891499"/>
            <a:ext cx="1845858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PROJECT IMAGE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C61A603D-E1ED-4DF1-95C5-E15F5737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4314" y="9268020"/>
            <a:ext cx="5349089" cy="354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74">
                <a:solidFill>
                  <a:srgbClr val="F8F8F8"/>
                </a:solidFill>
                <a:latin typeface="Roboto"/>
                <a:ea typeface="Roboto"/>
                <a:cs typeface="Roboto"/>
              </a:rPr>
              <a:t>Real HTTP + Wireshark evidence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B075AF35-3FB7-4043-842E-AF5279A7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927" y="4945559"/>
            <a:ext cx="1601041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THE PROBLEM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B0528C-E951-470A-B4A4-7F4D8FC7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5290" y="7174563"/>
            <a:ext cx="1445183" cy="3253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74">
                <a:solidFill>
                  <a:srgbClr val="B7D34B"/>
                </a:solidFill>
                <a:latin typeface="Roboto Bold"/>
                <a:ea typeface="Roboto Bold"/>
                <a:cs typeface="Roboto Bold"/>
              </a:rPr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606006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EE1D6280-6199-4A4D-A007-A59CC92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479aa191b484f19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837EB502-F480-4BAC-AB83-DA9381B4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380" y="448943"/>
            <a:ext cx="12419010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274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System and Network Architecture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390CC92-E0CE-4EA2-A7CA-FCAAFAED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666" y="1414462"/>
            <a:ext cx="9969328" cy="42952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12"/>
              </a:lnSpc>
              <a:buNone/>
            </a:pPr>
            <a:r>
              <a:rPr sz="2759" b="1" spc="-82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Three physical computers communicating over a private network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ACC7763-B0AA-4670-87E0-CCDC99BA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1071335"/>
            <a:ext cx="3718852" cy="5575313"/>
          </a:xfrm>
          <a:custGeom xmlns:a="http://schemas.openxmlformats.org/drawingml/2006/main">
            <a:rect l="l" t="t" r="r" b="b"/>
            <a:pathLst>
              <a:path w="3718852" h="5575313">
                <a:moveTo>
                  <a:pt x="0" y="0"/>
                </a:moveTo>
                <a:lnTo>
                  <a:pt x="3718852" y="0"/>
                </a:lnTo>
                <a:lnTo>
                  <a:pt x="371885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07aefa6ca5415a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4461CD6-E970-41C9-B170-F7386E22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1194" y="1529413"/>
            <a:ext cx="2811055" cy="295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299"/>
              </a:lnSpc>
              <a:buNone/>
            </a:pPr>
            <a:r>
              <a:rPr sz="1916" b="1" spc="-57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 INFORMATION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1D8492B-D7FD-409B-9DD6-11D711B2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1933" y="2227748"/>
            <a:ext cx="1737169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address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9C291DC-5C44-4520-8F12-D6E5D65D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5905" y="2610013"/>
            <a:ext cx="3018894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192.168.54.6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7CF1435-776D-4D7B-BDDE-CE00C801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6512" y="3266946"/>
            <a:ext cx="1279265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Server port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10F50A44-FE6C-4B07-8F64-0C4CC67F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492" y="4200718"/>
            <a:ext cx="981292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Protocol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202CC3C-0AFA-46D8-80B3-D363924A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29538" y="5164611"/>
            <a:ext cx="976627" cy="3224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7"/>
              </a:lnSpc>
              <a:buNone/>
            </a:pPr>
            <a:r>
              <a:rPr sz="2047" b="1" spc="-60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Network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26D292-E468-4D76-9770-1EA49078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8647" y="5561938"/>
            <a:ext cx="2744719" cy="3079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Wi-Fi LAN / private network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14AD2E77-8C69-48B4-97DB-D330B1C1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98574" y="2142670"/>
            <a:ext cx="5895474" cy="4296271"/>
          </a:xfrm>
          <a:custGeom xmlns:a="http://schemas.openxmlformats.org/drawingml/2006/main">
            <a:rect l="l" t="t" r="r" b="b"/>
            <a:pathLst>
              <a:path w="5895474" h="4296271">
                <a:moveTo>
                  <a:pt x="0" y="0"/>
                </a:moveTo>
                <a:lnTo>
                  <a:pt x="5895474" y="0"/>
                </a:lnTo>
                <a:lnTo>
                  <a:pt x="589547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cecc7586d73484e"/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08332A-E083-4041-A6DB-975F03BE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2483295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PHYSICAL SERVER COMPUTER</a:t>
            </a:r>
          </a:p>
        </p:txBody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505D6528-B4E9-4952-8EA0-6198A24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2995365"/>
            <a:ext cx="885962" cy="1508614"/>
          </a:xfrm>
          <a:custGeom xmlns:a="http://schemas.openxmlformats.org/drawingml/2006/main">
            <a:rect l="l" t="t" r="r" b="b"/>
            <a:pathLst>
              <a:path w="885962" h="1508614">
                <a:moveTo>
                  <a:pt x="0" y="0"/>
                </a:moveTo>
                <a:lnTo>
                  <a:pt x="885962" y="0"/>
                </a:lnTo>
                <a:lnTo>
                  <a:pt x="88596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ac1e9e71a414d75"/>
            <a:stretch>
              <a:fillRect l="0" t="0" r="0" b="0"/>
            </a:stretch>
          </a:blipFill>
        </p:spPr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ADC66A55-DBA5-4997-BCE4-E3233395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79839" y="3171045"/>
            <a:ext cx="2641842" cy="3843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090"/>
              </a:lnSpc>
              <a:buNone/>
            </a:pPr>
            <a:r>
              <a:rPr sz="2575" b="1" spc="-76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Flask HTTP Server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6D295D81-009C-452E-9928-3FDF8A3D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9787" y="3668053"/>
            <a:ext cx="164705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Port: 8000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Protocol: HTTP</a:t>
            </a:r>
          </a:p>
        </p:txBody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03B56ADC-32A2-4536-9947-6BB454CD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5020450" cy="229572"/>
          </a:xfrm>
          <a:custGeom xmlns:a="http://schemas.openxmlformats.org/drawingml/2006/main">
            <a:rect l="l" t="t" r="r" b="b"/>
            <a:pathLst>
              <a:path w="5020450" h="229572">
                <a:moveTo>
                  <a:pt x="0" y="0"/>
                </a:moveTo>
                <a:lnTo>
                  <a:pt x="5020450" y="0"/>
                </a:lnTo>
                <a:lnTo>
                  <a:pt x="5020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d203bcd52554776"/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D2513206-5D0D-49BA-927F-E85CF778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73598" y="4711687"/>
            <a:ext cx="885962" cy="1289974"/>
          </a:xfrm>
          <a:custGeom xmlns:a="http://schemas.openxmlformats.org/drawingml/2006/main">
            <a:rect l="l" t="t" r="r" b="b"/>
            <a:pathLst>
              <a:path w="885962" h="1289974">
                <a:moveTo>
                  <a:pt x="0" y="0"/>
                </a:moveTo>
                <a:lnTo>
                  <a:pt x="885962" y="0"/>
                </a:lnTo>
                <a:lnTo>
                  <a:pt x="88596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45a2dd51982468c"/>
            <a:stretch>
              <a:fillRect l="0" t="0" r="0" b="0"/>
            </a:stretch>
          </a:blip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9C283642-E08C-4757-ACEA-094B5002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4986" y="4903042"/>
            <a:ext cx="2127161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SQLite Database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F96280A6-B056-43A2-976B-940791C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5012" y="5324746"/>
            <a:ext cx="2124577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Centralized storage</a:t>
            </a:r>
          </a:p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Shared by all clients</a:t>
            </a:r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DD4F4AEB-EF9A-4D90-A0C9-0D015571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31464" y="6209369"/>
            <a:ext cx="229694" cy="1300906"/>
          </a:xfrm>
          <a:custGeom xmlns:a="http://schemas.openxmlformats.org/drawingml/2006/main">
            <a:rect l="l" t="t" r="r" b="b"/>
            <a:pathLst>
              <a:path w="229694" h="1300906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092de922ff943b7"/>
            <a:stretch>
              <a:fillRect l="0" t="0" r="0" b="0"/>
            </a:stretch>
          </a:blipFill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2ACEC7AF-CBB0-4B55-8ECB-E2E75951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353244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6957bfa83114186"/>
            <a:stretch>
              <a:fillRect l="0" t="0" r="0" b="0"/>
            </a:stretch>
          </a:blipFill>
        </p:spPr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C28785AA-7C83-400E-9789-A5FE7259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7280704"/>
            <a:ext cx="3926670" cy="863627"/>
          </a:xfrm>
          <a:custGeom xmlns:a="http://schemas.openxmlformats.org/drawingml/2006/main">
            <a:rect l="l" t="t" r="r" b="b"/>
            <a:pathLst>
              <a:path w="3926670" h="863627">
                <a:moveTo>
                  <a:pt x="0" y="0"/>
                </a:moveTo>
                <a:lnTo>
                  <a:pt x="3926670" y="0"/>
                </a:lnTo>
                <a:lnTo>
                  <a:pt x="392667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a9d4fb10c147cf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54FEE18F-B505-4731-AD88-BFDA44B5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9281" y="7603981"/>
            <a:ext cx="4607719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A3BF57"/>
                </a:solidFill>
                <a:latin typeface="Roboto Bold"/>
                <a:ea typeface="Roboto Bold"/>
                <a:cs typeface="Roboto Bold"/>
              </a:rPr>
              <a:t>PRIVATE LAN NETWORK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7DCE2142-334E-4E68-B2C9-FE6F9A60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89330" y="7499343"/>
            <a:ext cx="1968804" cy="437279"/>
          </a:xfrm>
          <a:custGeom xmlns:a="http://schemas.openxmlformats.org/drawingml/2006/main"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5d0035c4b4486c"/>
            <a:stretch>
              <a:fillRect l="0" t="0" r="0" b="0"/>
            </a:stretch>
          </a:blipFill>
        </p:spPr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CDB1AC4D-63EB-4B86-BBE0-A65E61BE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6635716"/>
            <a:ext cx="3718852" cy="2153601"/>
          </a:xfrm>
          <a:custGeom xmlns:a="http://schemas.openxmlformats.org/drawingml/2006/main">
            <a:rect l="l" t="t" r="r" b="b"/>
            <a:pathLst>
              <a:path w="3718852" h="2153601">
                <a:moveTo>
                  <a:pt x="0" y="0"/>
                </a:moveTo>
                <a:lnTo>
                  <a:pt x="3718852" y="0"/>
                </a:lnTo>
                <a:lnTo>
                  <a:pt x="371885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2c905a9a1d4f70"/>
            <a:stretch>
              <a:fillRect l="0" t="0" r="0" b="0"/>
            </a:stretch>
          </a:blipFill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43BFAE3-4BA8-47E5-8195-2AB1509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4039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1</a:t>
            </a:r>
          </a:p>
        </p:txBody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CDB2FAD4-824F-42DF-934D-BD42AB89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2842" y="7499343"/>
            <a:ext cx="1531292" cy="1082267"/>
          </a:xfrm>
          <a:custGeom xmlns:a="http://schemas.openxmlformats.org/drawingml/2006/main">
            <a:rect l="l" t="t" r="r" b="b"/>
            <a:pathLst>
              <a:path w="1531292" h="1082267">
                <a:moveTo>
                  <a:pt x="0" y="0"/>
                </a:moveTo>
                <a:lnTo>
                  <a:pt x="1531292" y="0"/>
                </a:lnTo>
                <a:lnTo>
                  <a:pt x="153129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df538f1bc6b42bd"/>
            <a:stretch>
              <a:fillRect l="0" t="0" r="0" b="0"/>
            </a:stretch>
          </a:blipFill>
        </p:spPr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8F84894-0878-4EBC-998A-8BE8755C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1815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FA265E6-AA71-4639-9E87-0E72519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2938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1</a:t>
            </a:r>
          </a:p>
        </p:txBody>
      </p:sp>
      <p:sp>
        <p:nvSpPr>
          <p:cNvPr id="32" name="Freeform 32">
            <a:extLst xmlns:a="http://schemas.openxmlformats.org/drawingml/2006/main">
              <a:ext uri="{FF2B5EF4-FFF2-40B4-BE49-F238E27FC236}">
                <a16:creationId xmlns:a16="http://schemas.microsoft.com/office/drawing/2014/main" id="{3AC033FD-07AC-4298-AD44-AE3EAB355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444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a16f7cc35a2442e"/>
            <a:stretch>
              <a:fillRect l="0" t="0" r="0" b="0"/>
            </a:stretch>
          </a:blipFill>
        </p:spPr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85E16A5D-8B9B-42A6-AFE9-EC99CFD4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6167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CBF3E2C2-DB75-4AC1-9D1F-9CBBFA5A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21952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e8cdf354403491b"/>
            <a:stretch>
              <a:fillRect l="0" t="0" r="0" b="0"/>
            </a:stretch>
          </a:blip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A2926406-FA11-4B29-862D-5BFBCCCE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387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2AE5809D-D362-4A2C-9BA7-2035D6DE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28440" y="6635716"/>
            <a:ext cx="3937608" cy="2153601"/>
          </a:xfrm>
          <a:custGeom xmlns:a="http://schemas.openxmlformats.org/drawingml/2006/main">
            <a:rect l="l" t="t" r="r" b="b"/>
            <a:pathLst>
              <a:path w="3937608" h="2153601">
                <a:moveTo>
                  <a:pt x="0" y="0"/>
                </a:moveTo>
                <a:lnTo>
                  <a:pt x="3937608" y="0"/>
                </a:lnTo>
                <a:lnTo>
                  <a:pt x="3937608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baa0d51076844e0"/>
            <a:stretch>
              <a:fillRect l="0" t="0" r="0" b="0"/>
            </a:stretch>
          </a:blipFill>
        </p:spPr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C409DF60-0720-4C0A-A08D-DAE3C17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3977" y="6941304"/>
            <a:ext cx="3375422" cy="33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626"/>
              </a:lnSpc>
              <a:buNone/>
            </a:pPr>
            <a:r>
              <a:rPr sz="2188" b="1" spc="-65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CLIENT COMPUTER 2</a:t>
            </a:r>
          </a:p>
        </p:txBody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639F8E3D-8F05-495F-BFD4-B2F2B17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7499343"/>
            <a:ext cx="1323474" cy="1082267"/>
          </a:xfrm>
          <a:custGeom xmlns:a="http://schemas.openxmlformats.org/drawingml/2006/main">
            <a:rect l="l" t="t" r="r" b="b"/>
            <a:pathLst>
              <a:path w="1323474" h="1082267">
                <a:moveTo>
                  <a:pt x="0" y="0"/>
                </a:moveTo>
                <a:lnTo>
                  <a:pt x="1323474" y="0"/>
                </a:lnTo>
                <a:lnTo>
                  <a:pt x="132347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6c0df75ec7047ee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74A05D77-C950-46D7-87E8-48B8172F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8542" y="7613993"/>
            <a:ext cx="1066917" cy="3486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15261F"/>
                </a:solidFill>
                <a:latin typeface="Roboto Bold"/>
                <a:ea typeface="Roboto Bold"/>
                <a:cs typeface="Roboto Bold"/>
              </a:rPr>
              <a:t>Browser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F3591124-47E3-4516-AB2C-B25EA00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83110" y="3640352"/>
            <a:ext cx="2625072" cy="2798589"/>
          </a:xfrm>
          <a:custGeom xmlns:a="http://schemas.openxmlformats.org/drawingml/2006/main">
            <a:rect l="l" t="t" r="r" b="b"/>
            <a:pathLst>
              <a:path w="2625072" h="2798589">
                <a:moveTo>
                  <a:pt x="0" y="0"/>
                </a:moveTo>
                <a:lnTo>
                  <a:pt x="2625072" y="0"/>
                </a:lnTo>
                <a:lnTo>
                  <a:pt x="2625072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f3d4ac4bc04634"/>
            <a:stretch>
              <a:fillRect l="0" t="0" r="0" b="0"/>
            </a:stretch>
          </a:blipFill>
        </p:spPr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21633DB3-C9DE-4127-81FA-BD4C66C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33073" y="4451217"/>
            <a:ext cx="899882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Request</a:t>
            </a:r>
          </a:p>
        </p:txBody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3E41674D-66FF-408C-99BD-CBC114DB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64354" y="4066699"/>
            <a:ext cx="2406316" cy="2798589"/>
          </a:xfrm>
          <a:custGeom xmlns:a="http://schemas.openxmlformats.org/drawingml/2006/main">
            <a:rect l="l" t="t" r="r" b="b"/>
            <a:pathLst>
              <a:path w="2406316" h="2798589">
                <a:moveTo>
                  <a:pt x="0" y="0"/>
                </a:moveTo>
                <a:lnTo>
                  <a:pt x="2406316" y="0"/>
                </a:lnTo>
                <a:lnTo>
                  <a:pt x="240631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3bba88299543f8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D5C357A0-7D14-4183-9B29-27CB663B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30543" y="5535597"/>
            <a:ext cx="1083210" cy="5806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  <a:p xmlns:a="http://schemas.openxmlformats.org/drawingml/2006/main">
            <a:pPr algn="ctr">
              <a:lnSpc>
                <a:spcPts val="2383"/>
              </a:lnSpc>
              <a:buNone/>
            </a:pPr>
            <a:r>
              <a:rPr sz="1986" b="1" spc="-59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Response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353B407B-B894-43C6-8397-6CA0BD99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330" y="8778386"/>
            <a:ext cx="11550316" cy="1508614"/>
          </a:xfrm>
          <a:custGeom xmlns:a="http://schemas.openxmlformats.org/drawingml/2006/main">
            <a:rect l="l" t="t" r="r" b="b"/>
            <a:pathLst>
              <a:path w="11550316" h="1508614">
                <a:moveTo>
                  <a:pt x="0" y="0"/>
                </a:moveTo>
                <a:lnTo>
                  <a:pt x="11550316" y="0"/>
                </a:lnTo>
                <a:lnTo>
                  <a:pt x="11550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be7fca482040b3"/>
            <a:stretch>
              <a:fillRect l="0" t="0" r="0" b="0"/>
            </a:stretch>
          </a:blipFill>
        </p:spPr>
      </p:sp>
      <p:sp>
        <p:nvSpPr>
          <p:cNvPr id="45" name="Freeform 45">
            <a:extLst xmlns:a="http://schemas.openxmlformats.org/drawingml/2006/main">
              <a:ext uri="{FF2B5EF4-FFF2-40B4-BE49-F238E27FC236}">
                <a16:creationId xmlns:a16="http://schemas.microsoft.com/office/drawing/2014/main" id="{780999B8-AB37-4AC9-B67C-7ECBEDFD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1598" y="8997026"/>
            <a:ext cx="885962" cy="1082267"/>
          </a:xfrm>
          <a:custGeom xmlns:a="http://schemas.openxmlformats.org/drawingml/2006/main"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89258611e2943e0"/>
            <a:stretch>
              <a:fillRect l="0" t="0" r="0" b="0"/>
            </a:stretch>
          </a:blipFill>
        </p:spPr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3DCAEC8F-1C06-4BDF-8B59-F70E45EA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035" y="9150199"/>
            <a:ext cx="8498107" cy="687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Both clients communicate with the same backend,</a:t>
            </a:r>
          </a:p>
          <a:p xmlns:a="http://schemas.openxmlformats.org/drawingml/2006/main">
            <a:pPr algn="l">
              <a:lnSpc>
                <a:spcPts val="2774"/>
              </a:lnSpc>
              <a:buNone/>
            </a:pPr>
            <a:r>
              <a:rPr sz="2311" b="1" spc="-6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so data created by one player can be discovered by another player.</a:t>
            </a:r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AD64BE3D-6408-4BC7-80BE-6DC9DA87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79664" y="8020636"/>
            <a:ext cx="954687" cy="2950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3"/>
              </a:lnSpc>
              <a:buNone/>
            </a:pPr>
            <a:r>
              <a:rPr sz="1986" spc="-59">
                <a:solidFill>
                  <a:srgbClr val="15261F"/>
                </a:solidFill>
                <a:latin typeface="Roboto"/>
                <a:ea typeface="Roboto"/>
                <a:cs typeface="Roboto"/>
              </a:rPr>
              <a:t>Athlete 2</a:t>
            </a:r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27A28DB2-E995-46BA-9F3D-3E2A2AF9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3908" y="4567922"/>
            <a:ext cx="539623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HTTP</a:t>
            </a:r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3C4719BD-DEF0-4C68-8A0C-2CBBE0D1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4551" y="3619089"/>
            <a:ext cx="475395" cy="2990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25"/>
              </a:lnSpc>
              <a:buNone/>
            </a:pPr>
            <a:r>
              <a:rPr sz="1617" b="1" spc="-48">
                <a:solidFill>
                  <a:srgbClr val="F4F0EC"/>
                </a:solidFill>
                <a:latin typeface="Roboto Bold"/>
                <a:ea typeface="Roboto Bold"/>
                <a:cs typeface="Roboto Bold"/>
              </a:rPr>
              <a:t>8000</a:t>
            </a:r>
          </a:p>
        </p:txBody>
      </p:sp>
    </p:spTree>
    <p:extLst>
      <p:ext uri="{BB962C8B-B14F-4D97-AF65-F5344CB8AC3E}">
        <p14:creationId xmlns:p14="http://schemas.microsoft.com/office/powerpoint/2010/main" val="10412968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F2F5413-73BC-4208-9AF7-7A5E3D1E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2e08d1e5ea4aa5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02B672E4-3B73-466B-BC29-73287F8E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829" y="524247"/>
            <a:ext cx="10731948" cy="91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845"/>
              </a:lnSpc>
              <a:buNone/>
            </a:pPr>
            <a:r>
              <a:rPr sz="6845" b="1" spc="-340">
                <a:solidFill>
                  <a:srgbClr val="F1EEEA"/>
                </a:solidFill>
                <a:latin typeface="Roboto Bold"/>
                <a:ea typeface="Roboto Bold"/>
                <a:cs typeface="Roboto Bold"/>
              </a:rPr>
              <a:t>Application Implementation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5F900999-5025-45DE-BCFF-C152DE61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6641" y="1577708"/>
            <a:ext cx="6950746" cy="3711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59"/>
              </a:lnSpc>
              <a:buNone/>
            </a:pPr>
            <a:r>
              <a:rPr sz="2759" b="1" spc="-137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Core components of the Padeli Hyeti system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90BDC11-7444-49D8-B53F-9AC8535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2142670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2a043474814f4c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635758F4-E594-4632-9A77-D8AC98B3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2776725"/>
            <a:ext cx="1323474" cy="1300906"/>
          </a:xfrm>
          <a:custGeom xmlns:a="http://schemas.openxmlformats.org/drawingml/2006/main">
            <a:rect l="l" t="t" r="r" b="b"/>
            <a:pathLst>
              <a:path w="1323474" h="1300906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876bf07a2e496e"/>
            <a:stretch>
              <a:fillRect l="0" t="0" r="0" b="0"/>
            </a:stretch>
          </a:blipFill>
        </p:spPr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03F0D6B-CB68-4297-ADA9-63835635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7045" y="2842763"/>
            <a:ext cx="1360385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Frontend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1816C1F-C3FF-4565-BBEC-B9DD6E8F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99179" y="3454536"/>
            <a:ext cx="3146895" cy="1003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HTML5, CSS3, </a:t>
            </a: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Jinja templates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Minimal JavaScript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Browser-based interaction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1B5CA099-C8AF-4DB2-B1B1-8451BEF4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5356674"/>
            <a:ext cx="5895474" cy="3224936"/>
          </a:xfrm>
          <a:custGeom xmlns:a="http://schemas.openxmlformats.org/drawingml/2006/main">
            <a:rect l="l" t="t" r="r" b="b"/>
            <a:pathLst>
              <a:path w="5895474" h="3224936">
                <a:moveTo>
                  <a:pt x="0" y="0"/>
                </a:moveTo>
                <a:lnTo>
                  <a:pt x="5895474" y="0"/>
                </a:lnTo>
                <a:lnTo>
                  <a:pt x="5895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fbdea2b4bd4408"/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035C6B8-416E-40B2-A984-963B2C37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5783021"/>
            <a:ext cx="1323474" cy="1289974"/>
          </a:xfrm>
          <a:custGeom xmlns:a="http://schemas.openxmlformats.org/drawingml/2006/main">
            <a:rect l="l" t="t" r="r" b="b"/>
            <a:pathLst>
              <a:path w="1323474" h="1289974">
                <a:moveTo>
                  <a:pt x="0" y="0"/>
                </a:moveTo>
                <a:lnTo>
                  <a:pt x="1323474" y="0"/>
                </a:lnTo>
                <a:lnTo>
                  <a:pt x="1323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7334b1da57d4bc5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A32088-2BAE-420E-903E-09A5C7BE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16428" y="5900114"/>
            <a:ext cx="1422063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Database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497D6CA-2B98-47FE-BC5B-9B413F80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3746" y="6391400"/>
            <a:ext cx="2690239" cy="16819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b="1" spc="-92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SQLite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Persistent storage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Foreign keys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Unique constraints</a:t>
            </a:r>
          </a:p>
          <a:p xmlns:a="http://schemas.openxmlformats.org/drawingml/2006/main">
            <a:pPr algn="l">
              <a:lnSpc>
                <a:spcPts val="2794"/>
              </a:lnSpc>
              <a:buNone/>
            </a:pPr>
            <a:r>
              <a:rPr sz="1863" spc="-92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Parametrized SQL queries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8762115-FF48-42C9-A57A-CC3DD239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2142670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35fdb0d076f4ae3"/>
            <a:stretch>
              <a:fillRect l="0" t="0" r="0" b="0"/>
            </a:stretch>
          </a:blipFill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B7D9895C-DE91-47A2-92AF-5CF31A48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2776725"/>
            <a:ext cx="1531292" cy="1300906"/>
          </a:xfrm>
          <a:custGeom xmlns:a="http://schemas.openxmlformats.org/drawingml/2006/main">
            <a:rect l="l" t="t" r="r" b="b"/>
            <a:pathLst>
              <a:path w="1531292" h="1300906">
                <a:moveTo>
                  <a:pt x="0" y="0"/>
                </a:moveTo>
                <a:lnTo>
                  <a:pt x="1531292" y="0"/>
                </a:lnTo>
                <a:lnTo>
                  <a:pt x="153129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4095883255a472e"/>
            <a:stretch>
              <a:fillRect l="0" t="0" r="0" b="0"/>
            </a:stretch>
          </a:blip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3DC8BD6D-EDB5-497B-A802-6429256D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7474" y="2842763"/>
            <a:ext cx="1318994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Backend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2F623D1A-367E-4A7E-99E5-29A85C46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6190" y="3383987"/>
            <a:ext cx="2447361" cy="14217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b="1" spc="-95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Python 3, Flask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Session authentication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JSON API endpoints</a:t>
            </a:r>
          </a:p>
          <a:p xmlns:a="http://schemas.openxmlformats.org/drawingml/2006/main">
            <a:pPr algn="l">
              <a:lnSpc>
                <a:spcPts val="2874"/>
              </a:lnSpc>
              <a:buNone/>
            </a:pPr>
            <a:r>
              <a:rPr sz="1916" spc="-95">
                <a:solidFill>
                  <a:srgbClr val="182522"/>
                </a:solidFill>
                <a:latin typeface="Roboto"/>
                <a:ea typeface="Roboto"/>
                <a:cs typeface="Roboto"/>
              </a:rPr>
              <a:t>Server-side validation</a:t>
            </a:r>
          </a:p>
        </p:txBody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2814749-EF86-4038-8C8C-3B118919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2354" y="5356674"/>
            <a:ext cx="5665780" cy="3224936"/>
          </a:xfrm>
          <a:custGeom xmlns:a="http://schemas.openxmlformats.org/drawingml/2006/main">
            <a:rect l="l" t="t" r="r" b="b"/>
            <a:pathLst>
              <a:path w="5665780" h="3224936">
                <a:moveTo>
                  <a:pt x="0" y="0"/>
                </a:moveTo>
                <a:lnTo>
                  <a:pt x="5665780" y="0"/>
                </a:lnTo>
                <a:lnTo>
                  <a:pt x="566578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4a32590f20494b"/>
            <a:stretch>
              <a:fillRect l="0" t="0" r="0" b="0"/>
            </a:stretch>
          </a:blipFill>
        </p:spPr>
      </p:sp>
      <p:sp>
        <p:nvSpPr>
          <p:cNvPr id="18" name="Freeform 18">
            <a:extLst xmlns:a="http://schemas.openxmlformats.org/drawingml/2006/main">
              <a:ext uri="{FF2B5EF4-FFF2-40B4-BE49-F238E27FC236}">
                <a16:creationId xmlns:a16="http://schemas.microsoft.com/office/drawing/2014/main" id="{7E6D403A-AECB-4E9C-90FA-157DF3C3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9866" y="5783021"/>
            <a:ext cx="1531292" cy="1289974"/>
          </a:xfrm>
          <a:custGeom xmlns:a="http://schemas.openxmlformats.org/drawingml/2006/main">
            <a:rect l="l" t="t" r="r" b="b"/>
            <a:pathLst>
              <a:path w="1531292" h="1289974">
                <a:moveTo>
                  <a:pt x="0" y="0"/>
                </a:moveTo>
                <a:lnTo>
                  <a:pt x="1531292" y="0"/>
                </a:lnTo>
                <a:lnTo>
                  <a:pt x="153129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f585da033b42d9"/>
            <a:stretch>
              <a:fillRect l="0" t="0" r="0" b="0"/>
            </a:stretch>
          </a:blipFill>
        </p:spPr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ABB4B4-C5C1-49DA-94EA-5AF60B91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8051" y="6422116"/>
            <a:ext cx="3261353" cy="16787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b="1" spc="-8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Werkzeug password hashing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Passwords never stored in plaintext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CSRF protection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HTTP-only session cookies</a:t>
            </a:r>
          </a:p>
          <a:p xmlns:a="http://schemas.openxmlformats.org/drawingml/2006/main">
            <a:pPr algn="l">
              <a:lnSpc>
                <a:spcPts val="2749"/>
              </a:lnSpc>
              <a:buNone/>
            </a:pPr>
            <a:r>
              <a:rPr sz="1617" spc="-80">
                <a:solidFill>
                  <a:srgbClr val="182522"/>
                </a:solidFill>
                <a:latin typeface="Roboto"/>
                <a:ea typeface="Roboto"/>
                <a:cs typeface="Roboto"/>
              </a:rPr>
              <a:t>Private profile information protected</a:t>
            </a:r>
          </a:p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8C4AC782-4453-4E2D-8E1D-94DA929B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6086" y="4493047"/>
            <a:ext cx="1531292" cy="1727254"/>
          </a:xfrm>
          <a:custGeom xmlns:a="http://schemas.openxmlformats.org/drawingml/2006/main"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12894dbb9ae40d4"/>
            <a:stretch>
              <a:fillRect l="0" t="0" r="0" b="0"/>
            </a:stretch>
          </a:blipFill>
        </p:spPr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F0C7CDD5-2841-4CC9-8F26-EE77BD17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6574" y="8778386"/>
            <a:ext cx="11331560" cy="1300906"/>
          </a:xfrm>
          <a:custGeom xmlns:a="http://schemas.openxmlformats.org/drawingml/2006/main">
            <a:rect l="l" t="t" r="r" b="b"/>
            <a:pathLst>
              <a:path w="11331560" h="1300906">
                <a:moveTo>
                  <a:pt x="0" y="0"/>
                </a:moveTo>
                <a:lnTo>
                  <a:pt x="11331560" y="0"/>
                </a:lnTo>
                <a:lnTo>
                  <a:pt x="11331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b141661a3f41f2"/>
            <a:stretch>
              <a:fillRect l="0" t="0" r="0" b="0"/>
            </a:stretch>
          </a:blipFill>
        </p:spPr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4B47B4B7-32BE-4A0B-B2BF-A2D7207D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4086" y="8997026"/>
            <a:ext cx="1104718" cy="1082267"/>
          </a:xfrm>
          <a:custGeom xmlns:a="http://schemas.openxmlformats.org/drawingml/2006/main"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c7149e977cf4c85"/>
            <a:stretch>
              <a:fillRect l="0" t="0" r="0" b="0"/>
            </a:stretch>
          </a:blip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0CF1947D-DDFB-41E0-900A-C531CAC8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69914" y="9125309"/>
            <a:ext cx="7286625" cy="7235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930"/>
              </a:lnSpc>
              <a:buNone/>
            </a:pPr>
            <a:r>
              <a:rPr sz="2254" spc="-112">
                <a:solidFill>
                  <a:srgbClr val="F1EEEA"/>
                </a:solidFill>
                <a:latin typeface="Roboto"/>
                <a:ea typeface="Roboto"/>
                <a:cs typeface="Roboto"/>
              </a:rPr>
              <a:t>Basic security suitable for controlled university demonstration,</a:t>
            </a:r>
            <a:r>
              <a:rPr sz="2254" b="1" spc="-112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 not production-grade.</a:t>
            </a:r>
          </a:p>
        </p:txBody>
      </p:sp>
      <p:sp>
        <p:nvSpPr>
          <p:cNvPr id="24" name="Freeform 24">
            <a:extLst xmlns:a="http://schemas.openxmlformats.org/drawingml/2006/main">
              <a:ext uri="{FF2B5EF4-FFF2-40B4-BE49-F238E27FC236}">
                <a16:creationId xmlns:a16="http://schemas.microsoft.com/office/drawing/2014/main" id="{67C9D0C7-A6C9-4FB3-997A-A5FA5940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4708" y="852695"/>
            <a:ext cx="5457962" cy="8800250"/>
          </a:xfrm>
          <a:custGeom xmlns:a="http://schemas.openxmlformats.org/drawingml/2006/main">
            <a:rect l="l" t="t" r="r" b="b"/>
            <a:pathLst>
              <a:path w="5457962" h="8800250">
                <a:moveTo>
                  <a:pt x="0" y="0"/>
                </a:moveTo>
                <a:lnTo>
                  <a:pt x="5457962" y="0"/>
                </a:lnTo>
                <a:lnTo>
                  <a:pt x="5457962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28fbb3ca9f4fea"/>
            <a:stretch>
              <a:fillRect l="0" t="0" r="0" b="0"/>
            </a:stretch>
          </a:blipFill>
        </p:spPr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4FE493F0-BDAF-444E-8F96-AD56AE49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78383" y="1400325"/>
            <a:ext cx="4554141" cy="2852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188"/>
              </a:lnSpc>
              <a:buNone/>
            </a:pPr>
            <a:r>
              <a:rPr sz="2188" b="1" spc="-108">
                <a:solidFill>
                  <a:srgbClr val="9FBD5A"/>
                </a:solidFill>
                <a:latin typeface="Roboto Bold"/>
                <a:ea typeface="Roboto Bold"/>
                <a:cs typeface="Roboto Bold"/>
              </a:rPr>
              <a:t>Project File Structure (Example)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A5AD6138-2508-4A30-986B-41006808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22220" y="1924030"/>
            <a:ext cx="667206" cy="437279"/>
          </a:xfrm>
          <a:custGeom xmlns:a="http://schemas.openxmlformats.org/drawingml/2006/main">
            <a:rect l="l" t="t" r="r" b="b"/>
            <a:pathLst>
              <a:path w="667206" h="437279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fd2e76831554652"/>
            <a:stretch>
              <a:fillRect l="0" t="0" r="0" b="0"/>
            </a:stretch>
          </a:blipFill>
        </p:spPr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5E940951-193D-4345-B076-3EC4312D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90504" y="1947894"/>
            <a:ext cx="165040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padeli_hyeti/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0B9845CA-76D9-403F-8DB9-C39CA98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235037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1a8d6b76794b9a"/>
            <a:stretch>
              <a:fillRect l="0" t="0" r="0" b="0"/>
            </a:stretch>
          </a:blipFill>
        </p:spPr>
      </p:sp>
      <p:sp>
        <p:nvSpPr>
          <p:cNvPr id="29" name="Freeform 29">
            <a:extLst xmlns:a="http://schemas.openxmlformats.org/drawingml/2006/main">
              <a:ext uri="{FF2B5EF4-FFF2-40B4-BE49-F238E27FC236}">
                <a16:creationId xmlns:a16="http://schemas.microsoft.com/office/drawing/2014/main" id="{0126BFC8-E3D1-4EED-A760-879B417D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776725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d3fed5e0b134341"/>
            <a:stretch>
              <a:fillRect l="0" t="0" r="0" b="0"/>
            </a:stretch>
          </a:blipFill>
        </p:spPr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7E481F1D-CC16-4D6A-A2D5-0749CBBC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2995365"/>
            <a:ext cx="437512" cy="655919"/>
          </a:xfrm>
          <a:custGeom xmlns:a="http://schemas.openxmlformats.org/drawingml/2006/main"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2e8ab9060d4400"/>
            <a:stretch>
              <a:fillRect l="0" t="0" r="0" b="0"/>
            </a:stretch>
          </a:blipFill>
        </p:spPr>
      </p:sp>
      <p:sp>
        <p:nvSpPr>
          <p:cNvPr id="31" name="Freeform 31">
            <a:extLst xmlns:a="http://schemas.openxmlformats.org/drawingml/2006/main">
              <a:ext uri="{FF2B5EF4-FFF2-40B4-BE49-F238E27FC236}">
                <a16:creationId xmlns:a16="http://schemas.microsoft.com/office/drawing/2014/main" id="{922671D6-9326-47A9-8757-AA4B85EC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3421712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9693802a98425e"/>
            <a:stretch>
              <a:fillRect l="0" t="0" r="0" b="0"/>
            </a:stretch>
          </a:blipFill>
        </p:spPr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177AA1B6-7F91-4FB2-8579-E70EB7AA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0461" y="3514221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templates/</a:t>
            </a:r>
          </a:p>
        </p:txBody>
      </p:sp>
      <p:sp>
        <p:nvSpPr>
          <p:cNvPr id="33" name="Freeform 33">
            <a:extLst xmlns:a="http://schemas.openxmlformats.org/drawingml/2006/main">
              <a:ext uri="{FF2B5EF4-FFF2-40B4-BE49-F238E27FC236}">
                <a16:creationId xmlns:a16="http://schemas.microsoft.com/office/drawing/2014/main" id="{AE41F26E-F34E-404F-A778-EF432846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3848060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b7bbb2a841a477c"/>
            <a:stretch>
              <a:fillRect l="0" t="0" r="0" b="0"/>
            </a:stretch>
          </a:blipFill>
        </p:spPr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FB000962-43ED-488A-8CA2-A5BCAA9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285339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ce2ec521c541e0"/>
            <a:stretch>
              <a:fillRect l="0" t="0" r="0" b="0"/>
            </a:stretch>
          </a:blipFill>
        </p:spPr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15248002-FF37-45DE-8FEF-3DA7E75E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4493047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c420b4455548c7"/>
            <a:stretch>
              <a:fillRect l="0" t="0" r="0" b="0"/>
            </a:stretch>
          </a:blipFill>
        </p:spPr>
      </p:sp>
      <p:sp>
        <p:nvSpPr>
          <p:cNvPr id="36" name="Freeform 36">
            <a:extLst xmlns:a="http://schemas.openxmlformats.org/drawingml/2006/main">
              <a:ext uri="{FF2B5EF4-FFF2-40B4-BE49-F238E27FC236}">
                <a16:creationId xmlns:a16="http://schemas.microsoft.com/office/drawing/2014/main" id="{B9A8C4EA-EE73-4491-A35A-B0885F3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4919394"/>
            <a:ext cx="437512" cy="448211"/>
          </a:xfrm>
          <a:custGeom xmlns:a="http://schemas.openxmlformats.org/drawingml/2006/main">
            <a:rect l="l" t="t" r="r" b="b"/>
            <a:pathLst>
              <a:path w="437512" h="448211">
                <a:moveTo>
                  <a:pt x="0" y="0"/>
                </a:moveTo>
                <a:lnTo>
                  <a:pt x="437512" y="0"/>
                </a:lnTo>
                <a:lnTo>
                  <a:pt x="43751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5a2f1dc56b4001"/>
            <a:stretch>
              <a:fillRect l="0" t="0" r="0" b="0"/>
            </a:stretch>
          </a:blipFill>
        </p:spPr>
      </p:sp>
      <p:sp>
        <p:nvSpPr>
          <p:cNvPr id="37" name="Freeform 37">
            <a:extLst xmlns:a="http://schemas.openxmlformats.org/drawingml/2006/main">
              <a:ext uri="{FF2B5EF4-FFF2-40B4-BE49-F238E27FC236}">
                <a16:creationId xmlns:a16="http://schemas.microsoft.com/office/drawing/2014/main" id="{6538272A-BB1B-48FF-AADD-2B0DBDB8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5356674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3e1368e8d74051"/>
            <a:stretch>
              <a:fillRect l="0" t="0" r="0" b="0"/>
            </a:stretch>
          </a:blipFill>
        </p:spPr>
      </p:sp>
      <p:sp>
        <p:nvSpPr>
          <p:cNvPr id="38" name="Freeform 38">
            <a:extLst xmlns:a="http://schemas.openxmlformats.org/drawingml/2006/main">
              <a:ext uri="{FF2B5EF4-FFF2-40B4-BE49-F238E27FC236}">
                <a16:creationId xmlns:a16="http://schemas.microsoft.com/office/drawing/2014/main" id="{98DA7F66-1172-4CEE-AC50-EEEFCBDC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5783021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391a8ef8ae4d86"/>
            <a:stretch>
              <a:fillRect l="0" t="0" r="0" b="0"/>
            </a:stretch>
          </a:blipFill>
        </p:spPr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954DE62C-AC77-4F60-87B2-C17F283E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49348" y="5758287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style.css</a:t>
            </a:r>
          </a:p>
        </p:txBody>
      </p:sp>
      <p:sp>
        <p:nvSpPr>
          <p:cNvPr id="40" name="Freeform 40">
            <a:extLst xmlns:a="http://schemas.openxmlformats.org/drawingml/2006/main">
              <a:ext uri="{FF2B5EF4-FFF2-40B4-BE49-F238E27FC236}">
                <a16:creationId xmlns:a16="http://schemas.microsoft.com/office/drawing/2014/main" id="{25272684-F7D3-4894-8913-E8BE572F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23818" y="6209369"/>
            <a:ext cx="448450" cy="229572"/>
          </a:xfrm>
          <a:custGeom xmlns:a="http://schemas.openxmlformats.org/drawingml/2006/main">
            <a:rect l="l" t="t" r="r" b="b"/>
            <a:pathLst>
              <a:path w="448450" h="229572">
                <a:moveTo>
                  <a:pt x="0" y="0"/>
                </a:moveTo>
                <a:lnTo>
                  <a:pt x="448450" y="0"/>
                </a:lnTo>
                <a:lnTo>
                  <a:pt x="44845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2283897a8234d5b"/>
            <a:stretch>
              <a:fillRect l="0" t="0" r="0" b="0"/>
            </a:stretch>
          </a:blipFill>
        </p:spPr>
      </p:sp>
      <p:sp>
        <p:nvSpPr>
          <p:cNvPr id="41" name="Freeform 41">
            <a:extLst xmlns:a="http://schemas.openxmlformats.org/drawingml/2006/main">
              <a:ext uri="{FF2B5EF4-FFF2-40B4-BE49-F238E27FC236}">
                <a16:creationId xmlns:a16="http://schemas.microsoft.com/office/drawing/2014/main" id="{539C2DBB-834B-4577-92DD-B30BE76D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42574" y="6428009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6003dfcec843d1"/>
            <a:stretch>
              <a:fillRect l="0" t="0" r="0" b="0"/>
            </a:stretch>
          </a:blipFill>
        </p:spPr>
      </p:sp>
      <p:sp>
        <p:nvSpPr>
          <p:cNvPr id="42" name="Freeform 42">
            <a:extLst xmlns:a="http://schemas.openxmlformats.org/drawingml/2006/main">
              <a:ext uri="{FF2B5EF4-FFF2-40B4-BE49-F238E27FC236}">
                <a16:creationId xmlns:a16="http://schemas.microsoft.com/office/drawing/2014/main" id="{94C71667-8937-4665-A146-D6F44FBD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6854356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97095cabcfa4172"/>
            <a:stretch>
              <a:fillRect l="0" t="0" r="0" b="0"/>
            </a:stretch>
          </a:blipFill>
        </p:spPr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A5F9CBF1-E33B-4C6B-B16C-121CA5E6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730" y="687278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database/</a:t>
            </a:r>
          </a:p>
        </p:txBody>
      </p:sp>
      <p:sp>
        <p:nvSpPr>
          <p:cNvPr id="44" name="Freeform 44">
            <a:extLst xmlns:a="http://schemas.openxmlformats.org/drawingml/2006/main">
              <a:ext uri="{FF2B5EF4-FFF2-40B4-BE49-F238E27FC236}">
                <a16:creationId xmlns:a16="http://schemas.microsoft.com/office/drawing/2014/main" id="{039D2FEC-336D-4276-84AA-D622339D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280704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c553d5eebb4c5e"/>
            <a:stretch>
              <a:fillRect l="0" t="0" r="0" b="0"/>
            </a:stretch>
          </a:blipFill>
        </p:spPr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9C9F8F6B-A076-4C14-B089-A772849D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0293" y="7234249"/>
            <a:ext cx="139649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database.py</a:t>
            </a:r>
          </a:p>
        </p:txBody>
      </p:sp>
      <p:sp>
        <p:nvSpPr>
          <p:cNvPr id="46" name="Freeform 46">
            <a:extLst xmlns:a="http://schemas.openxmlformats.org/drawingml/2006/main">
              <a:ext uri="{FF2B5EF4-FFF2-40B4-BE49-F238E27FC236}">
                <a16:creationId xmlns:a16="http://schemas.microsoft.com/office/drawing/2014/main" id="{BB4CA00F-A22D-4A6B-9B34-A91033FB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7499343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bc314f0164c4746"/>
            <a:stretch>
              <a:fillRect l="0" t="0" r="0" b="0"/>
            </a:stretch>
          </a:blipFill>
        </p:spPr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CC003D03-3CE2-4212-B039-6CCA015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5215" y="7610770"/>
            <a:ext cx="190431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padeli_hyeti.db</a:t>
            </a:r>
          </a:p>
        </p:txBody>
      </p:sp>
      <p:sp>
        <p:nvSpPr>
          <p:cNvPr id="48" name="Freeform 48">
            <a:extLst xmlns:a="http://schemas.openxmlformats.org/drawingml/2006/main">
              <a:ext uri="{FF2B5EF4-FFF2-40B4-BE49-F238E27FC236}">
                <a16:creationId xmlns:a16="http://schemas.microsoft.com/office/drawing/2014/main" id="{CCC5D637-551C-48BA-8E92-185A8820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78488" y="7925691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5ed281908d4538"/>
            <a:stretch>
              <a:fillRect l="0" t="0" r="0" b="0"/>
            </a:stretch>
          </a:blipFill>
        </p:spPr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F17BB481-2E39-4859-9CEC-995F16C8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8750" y="8002352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utils/</a:t>
            </a:r>
          </a:p>
        </p:txBody>
      </p:sp>
      <p:sp>
        <p:nvSpPr>
          <p:cNvPr id="50" name="Freeform 50">
            <a:extLst xmlns:a="http://schemas.openxmlformats.org/drawingml/2006/main">
              <a:ext uri="{FF2B5EF4-FFF2-40B4-BE49-F238E27FC236}">
                <a16:creationId xmlns:a16="http://schemas.microsoft.com/office/drawing/2014/main" id="{EC73240D-E5F7-4156-843D-1160C8EF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97244" y="8352038"/>
            <a:ext cx="437512" cy="437279"/>
          </a:xfrm>
          <a:custGeom xmlns:a="http://schemas.openxmlformats.org/drawingml/2006/main"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55f5f5ec22a4462"/>
            <a:stretch>
              <a:fillRect l="0" t="0" r="0" b="0"/>
            </a:stretch>
          </a:blipFill>
        </p:spPr>
      </p:sp>
      <p:sp>
        <p:nvSpPr>
          <p:cNvPr id="51" name="Freeform 51">
            <a:extLst xmlns:a="http://schemas.openxmlformats.org/drawingml/2006/main">
              <a:ext uri="{FF2B5EF4-FFF2-40B4-BE49-F238E27FC236}">
                <a16:creationId xmlns:a16="http://schemas.microsoft.com/office/drawing/2014/main" id="{C8B9FCC8-6589-4B3C-9C3A-C3BB9670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40976" y="8778386"/>
            <a:ext cx="448450" cy="437279"/>
          </a:xfrm>
          <a:custGeom xmlns:a="http://schemas.openxmlformats.org/drawingml/2006/main"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367d9215e344407"/>
            <a:stretch>
              <a:fillRect l="0" t="0" r="0" b="0"/>
            </a:stretch>
          </a:blipFill>
        </p:spPr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26C60D6A-5DC9-4691-A645-EFDA710D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265" y="5900114"/>
            <a:ext cx="1239902" cy="3498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23"/>
              </a:lnSpc>
              <a:buNone/>
            </a:pPr>
            <a:r>
              <a:rPr sz="2623" b="1" spc="-130">
                <a:solidFill>
                  <a:srgbClr val="182522"/>
                </a:solidFill>
                <a:latin typeface="Roboto Bold"/>
                <a:ea typeface="Roboto Bold"/>
                <a:cs typeface="Roboto Bold"/>
              </a:rPr>
              <a:t>Security</a:t>
            </a:r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9B3C3B9C-E150-4B8F-9A7C-E44D360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2761179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_init_.py</a:t>
            </a:r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EA5B2D2C-2CF7-4EDA-A4D7-1CEB0987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64378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login.html</a:t>
            </a:r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497A3574-D379-49F8-B7C4-D299B2B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1562" y="4282324"/>
            <a:ext cx="1269542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index.html</a:t>
            </a:r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25D52C-8060-4AEE-86D2-2EAAFF879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152761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routes.py</a:t>
            </a:r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097CEF79-239B-440B-A1FF-E7E43C66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52832" y="3890742"/>
            <a:ext cx="1142588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base.html</a:t>
            </a:r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80560C45-4FEF-4130-AE7D-2360848F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4269" y="5005245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static/</a:t>
            </a:r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77738B9A-1D3B-4D8D-9427-2AFCCE30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1887" y="6496268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main.js</a:t>
            </a:r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821826DF-7A9D-4623-BD76-B9B5E21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5004" y="8393934"/>
            <a:ext cx="888680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auth.py</a:t>
            </a:r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C7B99130-1606-4132-AFD8-6FF6A2AD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67281" y="8860820"/>
            <a:ext cx="761725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run.py</a:t>
            </a:r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0F9C40DB-4F5B-4621-B7CB-DF2E7AD4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1289" y="2354537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app/</a:t>
            </a:r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A3EA6343-B38A-4895-9B74-5BB73105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7070" y="5396826"/>
            <a:ext cx="507817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css/</a:t>
            </a:r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2BE08773-02F3-4C4D-9799-C8FE63F6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28340" y="6134808"/>
            <a:ext cx="380863" cy="3121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610"/>
              </a:lnSpc>
              <a:buNone/>
            </a:pPr>
            <a:r>
              <a:rPr sz="1740" spc="-86">
                <a:solidFill>
                  <a:srgbClr val="5ED893"/>
                </a:solidFill>
                <a:latin typeface="Roboto"/>
                <a:ea typeface="Roboto"/>
                <a:cs typeface="Roboto"/>
              </a:rPr>
              <a:t>js/</a:t>
            </a:r>
          </a:p>
        </p:txBody>
      </p:sp>
    </p:spTree>
    <p:extLst>
      <p:ext uri="{BB962C8B-B14F-4D97-AF65-F5344CB8AC3E}">
        <p14:creationId xmlns:p14="http://schemas.microsoft.com/office/powerpoint/2010/main" val="3976942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C80EF-F40B-4EC8-9621-D1C4238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03  /  THE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58D79-848D-4360-B766-0C6B254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game. Two clients. Four HTTP steps.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BFE23-3DA2-493C-8C5F-CBE5F7E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server keeps one shared SQLite record; both browsers read the same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23CB4-7194-48D6-B731-E69A7D7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F9B73-93E5-4B00-BA82-CD7C74D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09464-28E6-426E-858C-4C6258CC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1B696-8772-46E1-B63D-3D3A027F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ADDF4-9F3F-4F9A-B280-C0007DE3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5CD3AF-1152-4953-B0E5-87B64E9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8AFCC-EB96-49B4-9C6F-9F29AD0B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2ED28-68F0-4232-A0C0-12E2B85B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DE08D-BA4A-4FA5-AA3D-E9029A8F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Create Game 5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201 Created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8CC62-2A1C-4BBE-B76D-9E279DA4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88A31-CE94-4F14-9C6B-F7A1CC11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64320-A110-4220-AA19-D1AFCF8B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58A58-EE14-494D-8333-08671533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7A559-44AC-4504-831F-648EA0D4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D17AB-56B1-463E-AB1C-9AF0DDE2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 /games/5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081CBD-511E-4762-A3C9-F51AA3E2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Find the same game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200 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22BE8-0F9B-44CB-945F-A732E4DD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A7296-4319-4173-BCD0-B9D71B80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504BEC-B36A-4122-B14A-61792B3D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34F98-826C-4EEB-909F-86532B02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A096AD-AC1C-4409-938C-4C3A501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4093F8-21A1-4033-920A-3F3D7473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 /api/games/5/join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016AF-9FE0-488C-92E2-40986A3E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Join the game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200 OK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19C09E-6BC5-4DFF-A0D1-6BB86CDB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714875"/>
            <a:ext cx="33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C7FD85-B260-4C30-A605-12693753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333750"/>
            <a:ext cx="3619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9037BE-11FE-4480-B708-5EAE7DBA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3714750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053F6-95C9-47D3-A62D-1DDF625E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810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3C46D3-D316-48B1-A3FB-CA8BF81D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476750"/>
            <a:ext cx="3000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C54B"/>
          </a:solidFill>
          <a:ln xmlns:a="http://schemas.openxmlformats.org/drawingml/2006/main" w="0">
            <a:solidFill>
              <a:srgbClr val="A9C5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35AE5B-4F60-443B-9D6D-D10EC3BF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4953000"/>
            <a:ext cx="3000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 /games/5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164BCC-AF25-48EA-95D2-8838C6BA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6048375"/>
            <a:ext cx="300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Refresh participants</a:t>
            </a:r>
          </a:p>
          <a:p xmlns:a="http://schemas.openxmlformats.org/drawingml/2006/main">
            <a:pPr>
              <a:defRPr sz="15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→ 2 of 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644B2-EE23-4B17-B9DA-C462A8A4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20000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Proof: Client 1 sees Client 2 in the participant list after the join.</a:t>
            </a:r>
          </a:p>
        </p:txBody>
      </p:sp>
    </p:spTree>
    <p:extLst>
      <p:ext uri="{BB962C8B-B14F-4D97-AF65-F5344CB8AC3E}">
        <p14:creationId xmlns:p14="http://schemas.microsoft.com/office/powerpoint/2010/main" val="11286375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6F11F-F00C-46E9-992E-34497B1A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04  /  CREATE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DCF74-07BF-45E2-B0AB-60FD2D5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1 creates the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796AF-D966-45A1-86EB-5A2BC6CB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36000-6E0D-4288-9D85-55E864C0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4AC9D-5FAA-4156-943C-E83A0046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3AC58-3834-4A45-91E5-232269B1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A4FD87-474D-4857-9EB5-0DAEABC8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28DBE-3341-4197-9923-676A41DB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E9827-B9A7-4422-98BC-D7BFEA6A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AA9566-D12A-4F48-8CD5-D55A927E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192.168.54.66:61170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F9B94-6821-4F04-9E65-05B47ED7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{"title":"game",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"location":"padel megrine",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"date":"2026-10-22", "time":"14:00",</a:t>
            </a:r>
          </a:p>
          <a:p xmlns:a="http://schemas.openxmlformats.org/drawingml/2006/main">
            <a:pPr>
              <a:defRPr sz="135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FBFAF5"/>
                </a:solidFill>
                <a:latin typeface="Aptos"/>
                <a:ea typeface="Aptos"/>
                <a:cs typeface="Aptos"/>
              </a:rPr>
              <a:t> "required_level":"Intermediate", "max_players":"4"}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24BC1E-A10D-410E-8F3D-03C9EFA7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70D01-B6A1-4B3A-B4DA-5726C04E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B546C-C335-407B-9AA0-0CD0526B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177F7-C777-45A5-A08C-411BBFE9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C291F-2C0E-4850-8E8A-925108F6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358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4DCD3-ED5C-4004-9CD5-44695F9B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"Game created. You are the first participant."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participant_count=1 • available_places=3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309259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9C0F0-5CA5-41E7-9B39-18E942D7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05  /  JOIN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AB760-A669-4AB1-BB11-74470949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joins the same game.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4F6B9-6D71-479A-81CA-E68FEF4E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 on the left. Response on the right.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A6746-B15E-4339-A1F2-4BD71A39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8F6B8-240E-4D92-B32D-C20B8689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387A2-8205-49A8-A0B0-0FA4831C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5FE1F-F8F6-4633-A49E-CACA2E1A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41E22-7988-4A7D-B958-83E5CBFE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63FC-543C-4CD7-871F-E026419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54677-51D6-4232-BC2E-A1B981AF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47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192.168.53.7:50155 → :8000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Content-Length: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37040-0E20-46E0-BD09-07FC1DB2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Origin: http://192.168.54.6:8000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Referer: /games/5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X-CSRF-Token: [redacted]</a:t>
            </a:r>
          </a:p>
          <a:p xmlns:a="http://schemas.openxmlformats.org/drawingml/2006/main">
            <a:pPr>
              <a:defRPr sz="1425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FBFAF5"/>
                </a:solidFill>
                <a:latin typeface="Aptos"/>
                <a:ea typeface="Aptos"/>
                <a:cs typeface="Aptos"/>
              </a:rPr>
              <a:t>{}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87ED0-7897-40C8-818D-BA478155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F9A08-B872-457B-8E6B-D90A3715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2AF60-1614-4B4B-A1B3-2AB56030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1E3F5-4930-41A6-B325-9F5CCEE7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FFDB8-E054-4D30-8E75-F3AA33BB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00625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334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D89AA8-A185-443F-B75E-3FDC4C12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04837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"You joined the game."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data: id=5 • title="game"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location="padel megrine" • date=2026-10-22 • time=14:00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required_level=Intermediate • max_players=4</a:t>
            </a:r>
          </a:p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participant_count=2 • available_places=2 • status=available</a:t>
            </a:r>
          </a:p>
        </p:txBody>
      </p:sp>
    </p:spTree>
    <p:extLst>
      <p:ext uri="{BB962C8B-B14F-4D97-AF65-F5344CB8AC3E}">
        <p14:creationId xmlns:p14="http://schemas.microsoft.com/office/powerpoint/2010/main" val="1353460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96E5FB-FFAA-4A4A-B83F-DBEB42D4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06  / 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FC566-AFC5-4C49-AC1C-F36161A3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The HTTP types used by the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FF061-4C1B-4E3F-9436-046C8846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Only implemented methods and observed response codes are shown here.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1FF2A-F7F5-49E6-BE27-F5C1CE7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E7A2D-D7CD-4F12-A3B9-2D95687D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85EC36-CE24-4EE7-A84D-5247A30A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BF347-CC6A-4CCB-8B18-A1BFB4C0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42CB9-FC4B-43F2-A472-D7041446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44889-C6DE-4B25-A16A-9502077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Read pages, players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and game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FE4288-6882-4833-9670-535A02E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55A76-44CC-4D2B-8FF9-D1110BFB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0B7E39-B2C8-41C9-837F-DB2FA724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Register, login,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create, join,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8BC28-C268-4BC5-A0B4-7410139D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CDE4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46F33-F444-4E85-BC2B-A179A720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6121B-AA20-41C3-88E5-798A75B5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Update the logged-in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player profile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9AF843-12DB-4931-A865-F147909B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704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4497F-4988-437F-890A-150F0FEB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333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OBSERVED RESPONSES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7EC42-E8C6-4DF8-9CB0-39A265A7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857625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200 OK   •   201 Created   •   400 Bad Request</a:t>
            </a:r>
          </a:p>
          <a:p xmlns:a="http://schemas.openxmlformats.org/drawingml/2006/main">
            <a:pPr>
              <a:defRPr sz="15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401 Unauthorized   •   404 Not Found   •   409 Conflict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81579-DDDB-44C8-95A7-95A40A68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6478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EAE0A-11C0-45CC-8D92-C4101F5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57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GET /games/5  →  Flask view code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F2189A-1E5E-44F5-AD47-BD5BA14C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77000"/>
            <a:ext cx="819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@bp.get("/games/&lt;int:game_id&gt;")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def game_detail(game_id: int):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database = get_db()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row = fetch_game(game_id)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if row is None: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    abort(404)</a:t>
            </a:r>
          </a:p>
          <a:p xmlns:a="http://schemas.openxmlformats.org/drawingml/2006/main">
            <a:pPr>
              <a:defRPr sz="1500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FBFAF5"/>
                </a:solidFill>
                <a:latin typeface="Aptos"/>
                <a:ea typeface="Aptos"/>
                <a:cs typeface="Aptos"/>
              </a:rPr>
              <a:t>    participants = database.execute(...)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7A9D3-2D74-4174-B1C0-44F66D2A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334125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browser GET enters this real view, reads SQLite,</a:t>
            </a:r>
          </a:p>
          <a:p xmlns:a="http://schemas.openxmlformats.org/drawingml/2006/main">
            <a:pPr>
              <a:defRPr sz="18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loads participants, and returns the page—or a real 404.</a:t>
            </a:r>
          </a:p>
        </p:txBody>
      </p:sp>
    </p:spTree>
    <p:extLst>
      <p:ext uri="{BB962C8B-B14F-4D97-AF65-F5344CB8AC3E}">
        <p14:creationId xmlns:p14="http://schemas.microsoft.com/office/powerpoint/2010/main" val="792352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9DDD1-113A-4FC7-AAFE-2D84D38E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  /  TWO CLIENTS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7EDF9-9D54-4F39-B621-E85D573C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One shared game, shown twice.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8E373-77F6-4A1E-BDC9-B6EB923F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Click a green play label during the presentation to open the trimmed recording.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007A4-75EA-4F8E-A1D2-C60EB169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6F477-0ACC-439C-AEF2-8F5CF82F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28331-1ED7-4FA9-9B90-18F25329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084A5C-5961-4736-94E5-E1448151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9236F-D782-4735-85F7-FFA118D6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00375"/>
            <a:ext cx="8143875" cy="5810250"/>
          </a:xfrm>
          <a:prstGeom xmlns:a="http://schemas.openxmlformats.org/drawingml/2006/main" prst="roundRect">
            <a:avLst>
              <a:gd name="adj" fmla="val 1967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8255BB-6C49-407B-9DC9-C59FD86B8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293772f904c60"/>
          <a:stretch xmlns:a="http://schemas.openxmlformats.org/drawingml/2006/main"/>
        </p:blipFill>
        <p:spPr>
          <a:xfrm xmlns:a="http://schemas.openxmlformats.org/drawingml/2006/main">
            <a:off x="1000125" y="3542660"/>
            <a:ext cx="7572375" cy="358268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D14C2-1EEE-4255-ADD8-9BADC68923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e3ed64a7f40a6"/>
          <a:stretch xmlns:a="http://schemas.openxmlformats.org/drawingml/2006/main"/>
        </p:blipFill>
        <p:spPr>
          <a:xfrm xmlns:a="http://schemas.openxmlformats.org/drawingml/2006/main">
            <a:off x="9715500" y="3455104"/>
            <a:ext cx="7572375" cy="3757791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ECDA8-42F1-4D90-A5E8-EFCB8034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1  /  CREATED + REFRESHED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CAC2C-C8D9-44DF-AD72-E89C267B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096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Participant list: 2 of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DA443-C9AA-46D8-A20B-54F3E5AC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CLIENT 2  /  FOUND + JOINED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7EADB8-4DC3-4CC0-AE9D-B2924BAA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0962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Join confirmation is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2F96D7-53FA-4CB1-964A-8101881F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04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f935ec8c89af4763"/>
              </a:rPr>
              <a:t>▶  PLAY CLIENT 1 CLIP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FD02A-DCD2-4669-A21C-9D00E0D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048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A8062"/>
                </a:solidFill>
                <a:latin typeface="Aptos"/>
                <a:ea typeface="Aptos"/>
                <a:cs typeface="Aptos"/>
                <a:hlinkClick xmlns:r="http://schemas.openxmlformats.org/officeDocument/2006/relationships" r:id="R4fa68c25515744a4"/>
              </a:rPr>
              <a:t>▶  PLAY CLIENT 2 CLIP</a:t>
            </a:r>
          </a:p>
        </p:txBody>
      </p:sp>
    </p:spTree>
    <p:extLst>
      <p:ext uri="{BB962C8B-B14F-4D97-AF65-F5344CB8AC3E}">
        <p14:creationId xmlns:p14="http://schemas.microsoft.com/office/powerpoint/2010/main" val="7063359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E38AD6-C50A-4084-AB0C-5DAD60FC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  /  WIRESHARK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13EFD-6CF2-4EAD-9A9D-DD1A1FA7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Find one request. Read one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5042B-9268-40BE-9BFB-7060834F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The screenshot is the real join packet; the filter makes it easy to isolate.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A113F-D4B4-49DC-8A70-55A6200A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7FEE58-632C-4687-9218-4AE6F123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5903D-C6EC-4319-9DBF-36CDE7F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C90BD-570F-4F51-A3EF-79F0A9C4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334000" cy="5715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E4037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24E49-5EE8-459C-AFD9-B255EEF5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EBCBC-5379-4102-BFF7-FFADE7A3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4381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6EA48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E0491-A0CF-45D3-9354-A27A434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tcp.port == 8000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6675A-0A89-4DB2-8CDF-BA52F69D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97EC3-31EF-4D80-A7A6-B596DF1D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90550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POST /api/games/5/join</a:t>
            </a:r>
          </a:p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Client 2 →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1602F-6C18-490D-B19D-B3741EF6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91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180ED-882D-410F-A80E-BE631F21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62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HTTP/1.1 200 OK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Content-Length: 334</a:t>
            </a:r>
          </a:p>
          <a:p xmlns:a="http://schemas.openxmlformats.org/drawingml/2006/main">
            <a:pPr>
              <a:defRPr sz="1725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frame 1187933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F2E44-9C37-4377-88FA-2FB1849C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10763250" cy="5715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B8D34B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62CB83-3E52-4A4C-8866-AA1599D267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a44a73312c4740"/>
          <a:stretch xmlns:a="http://schemas.openxmlformats.org/drawingml/2006/main"/>
        </p:blipFill>
        <p:spPr>
          <a:xfrm xmlns:a="http://schemas.openxmlformats.org/drawingml/2006/main">
            <a:off x="6858000" y="3909125"/>
            <a:ext cx="10191750" cy="2278251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C4197-86AD-4535-825A-52C6D60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2390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REQUEST  frame 1187931  •  POST /api/games/5/join  •  body: {}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E1DFC-03D4-47D4-AAA7-3D4D6409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762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RESPONSE  frame 1187933  •  200 OK  •  participant_count: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7494E-C383-4C73-AB6D-B4057C8A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1915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Source: wiresharkpresentation.pcapng  •  session token redacted</a:t>
            </a:r>
          </a:p>
        </p:txBody>
      </p:sp>
    </p:spTree>
    <p:extLst>
      <p:ext uri="{BB962C8B-B14F-4D97-AF65-F5344CB8AC3E}">
        <p14:creationId xmlns:p14="http://schemas.microsoft.com/office/powerpoint/2010/main" val="1015112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F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389E8-DD31-43E2-A93F-58780BF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  /  BONUS — QUERY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FFAC4-8B24-41ED-8950-D4990F98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"/>
            <a:ext cx="160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QUERY captured: request →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6EAAC-AF30-44CE-9299-5BBF81DC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1476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DE4D8"/>
                </a:solidFill>
                <a:latin typeface="Aptos"/>
                <a:ea typeface="Aptos"/>
                <a:cs typeface="Aptos"/>
              </a:rPr>
              <a:t>Real packet pair from queryvalid.pcapng; request frame 1400, response frames 1401–1403.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3BEC-6A26-4732-974C-3FCFD4AF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695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A48D"/>
          </a:solidFill>
          <a:ln xmlns:a="http://schemas.openxmlformats.org/drawingml/2006/main" w="0">
            <a:solidFill>
              <a:srgbClr val="6EA48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EC502-8129-4BE2-9BEE-0394C9D0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9EC1B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C1B6"/>
                </a:solidFill>
                <a:latin typeface="Aptos"/>
                <a:ea typeface="Aptos"/>
                <a:cs typeface="Aptos"/>
              </a:rPr>
              <a:t>PADELI HYETI  /  COMPUTER NETWORKS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0D04-4E73-4E5E-BEB9-49EE84E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9677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B8D34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D34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DB75D-0405-4A86-A591-7AC7316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031D1A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E7EB3-EA85-469A-A6B4-6C023206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19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B36B"/>
                </a:solidFill>
                <a:latin typeface="Aptos"/>
                <a:ea typeface="Aptos"/>
                <a:cs typeface="Aptos"/>
              </a:rPr>
              <a:t>FRAME 1400  /  REQUEST  /  CAPTURED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A40C1-C067-4DC4-B474-188AFD4D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QUERY /api/query?resource=games HTTP/1.1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4E0AF-42B8-4AC9-A451-D2288E90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6477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Host: 192.168.54.6:8000</a:t>
            </a:r>
          </a:p>
          <a:p xmlns:a="http://schemas.openxmlformats.org/drawingml/2006/main">
            <a: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TCP: 192.168.53.7:60520 → :8000</a:t>
            </a:r>
          </a:p>
          <a:p xmlns:a="http://schemas.openxmlformats.org/drawingml/2006/main">
            <a: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User-Agent: curl/8.21.0</a:t>
            </a:r>
          </a:p>
          <a:p xmlns:a="http://schemas.openxmlformats.org/drawingml/2006/main">
            <a: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Accept: application/json</a:t>
            </a:r>
          </a:p>
          <a:p xmlns:a="http://schemas.openxmlformats.org/drawingml/2006/main">
            <a:pPr>
              <a:defRPr sz="1500" b="1">
                <a:solidFill>
                  <a:srgbClr val="CDE4D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E4D8"/>
                </a:solidFill>
                <a:latin typeface="Aptos"/>
                <a:ea typeface="Aptos"/>
                <a:cs typeface="Aptos"/>
              </a:rPr>
              <a:t>Body: none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39AAA-4D69-4F77-85CE-819AE230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7239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BFA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BFAF5"/>
                </a:solidFill>
                <a:latin typeface="Aptos"/>
                <a:ea typeface="Aptos"/>
                <a:cs typeface="Aptos"/>
              </a:rPr>
              <a:t>Read-only, non-standard HTTP method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7917B-0C43-4065-923B-1E02F408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F2B3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2B36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0D701-B6A1-498A-A91C-ED58F130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810500" cy="5334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5F2E9"/>
          </a:solidFill>
          <a:ln xmlns:a="http://schemas.openxmlformats.org/drawingml/2006/main" w="19050">
            <a:solidFill>
              <a:srgbClr val="F2B3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EF539-DA5F-4A49-B738-E372DC32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866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8662B"/>
                </a:solidFill>
                <a:latin typeface="Aptos"/>
                <a:ea typeface="Aptos"/>
                <a:cs typeface="Aptos"/>
              </a:rPr>
              <a:t>FRAMES 1401–1403  /  RESPONSE  /  CAPTURED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0D4B1-0857-4BE8-9592-23A48326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38625"/>
            <a:ext cx="647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HTTP/1.1 200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FA578-747F-43EA-ACF5-F8A33BFD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095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Server: Werkzeug/3.1.8 • Python/3.13.5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Content-Type: application/json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Content-Length: 1599</a:t>
            </a:r>
          </a:p>
          <a:p xmlns:a="http://schemas.openxmlformats.org/drawingml/2006/main">
            <a:pPr>
              <a:defRPr sz="1425" b="1">
                <a:solidFill>
                  <a:srgbClr val="2A80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A8062"/>
                </a:solidFill>
                <a:latin typeface="Aptos"/>
                <a:ea typeface="Aptos"/>
                <a:cs typeface="Aptos"/>
              </a:rPr>
              <a:t>Connection: close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3E4E6-311F-49B5-B05A-7BC99FD6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5722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success: true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message: "QUERY request handled; games retrieved."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data.method: "QUERY" • data.count: 5</a:t>
            </a:r>
          </a:p>
          <a:p xmlns:a="http://schemas.openxmlformats.org/drawingml/2006/main">
            <a:pPr>
              <a:defRPr sz="1425" b="1">
                <a:solidFill>
                  <a:srgbClr val="133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3A33"/>
                </a:solidFill>
                <a:latin typeface="Aptos"/>
                <a:ea typeface="Aptos"/>
                <a:cs typeface="Aptos"/>
              </a:rPr>
              <a:t>data.games: public catalogue (1599-byte JSON body)</a:t>
            </a:r>
          </a:p>
        </p:txBody>
      </p:sp>
    </p:spTree>
    <p:extLst>
      <p:ext uri="{BB962C8B-B14F-4D97-AF65-F5344CB8AC3E}">
        <p14:creationId xmlns:p14="http://schemas.microsoft.com/office/powerpoint/2010/main" val="10307508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2026-10-21T14:20:27.1800000Z</dcterms:created>
  <dcterms:modified xsi:type="dcterms:W3CDTF">2026-10-21T14:20:27.1800000Z</dcterms:modified>
</coreProperties>
</file>